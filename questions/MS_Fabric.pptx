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62" r:id="rId4"/>
    <p:sldId id="523" r:id="rId5"/>
    <p:sldId id="527" r:id="rId6"/>
    <p:sldId id="524" r:id="rId7"/>
    <p:sldId id="528" r:id="rId8"/>
    <p:sldId id="529" r:id="rId9"/>
    <p:sldId id="530" r:id="rId10"/>
    <p:sldId id="525" r:id="rId11"/>
    <p:sldId id="531" r:id="rId12"/>
    <p:sldId id="532" r:id="rId13"/>
    <p:sldId id="533" r:id="rId14"/>
    <p:sldId id="534" r:id="rId15"/>
    <p:sldId id="535" r:id="rId16"/>
    <p:sldId id="536" r:id="rId17"/>
    <p:sldId id="537" r:id="rId18"/>
    <p:sldId id="538" r:id="rId19"/>
    <p:sldId id="539" r:id="rId20"/>
    <p:sldId id="540" r:id="rId21"/>
    <p:sldId id="541" r:id="rId22"/>
    <p:sldId id="542" r:id="rId23"/>
    <p:sldId id="543" r:id="rId24"/>
    <p:sldId id="544" r:id="rId25"/>
    <p:sldId id="545" r:id="rId26"/>
    <p:sldId id="261" r:id="rId2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74" userDrawn="1">
          <p15:clr>
            <a:srgbClr val="A4A3A4"/>
          </p15:clr>
        </p15:guide>
        <p15:guide id="2" pos="2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-676" y="-68"/>
      </p:cViewPr>
      <p:guideLst>
        <p:guide orient="horz" pos="2874"/>
        <p:guide pos="21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7DE22-9E91-4192-903F-3C4AE46FA73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44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87" y="1053737"/>
            <a:ext cx="8305800" cy="352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57400" y="1047750"/>
            <a:ext cx="2133336" cy="5137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2475" y="1880841"/>
            <a:ext cx="5709920" cy="71564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altLang="en-IN" sz="3700" b="1" spc="220" dirty="0" smtClean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Fabric</a:t>
            </a:r>
            <a:endParaRPr lang="en-US" altLang="en-IN" sz="3700" b="1" spc="220" dirty="0" smtClean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8200" y="4106305"/>
            <a:ext cx="10934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Confidential</a:t>
            </a:r>
            <a:endParaRPr sz="1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Microsoft Fabric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6979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Microsoft Fabric is an end-to-end cloud analytics platform from Microsoft that brings data integration, data engineering, data warehousing, data science, real-time analytics, and Power BI into a single platform.</a:t>
            </a:r>
            <a:endParaRPr lang="en-US" altLang="en-GB" dirty="0"/>
          </a:p>
          <a:p>
            <a:pPr>
              <a:spcBef>
                <a:spcPts val="600"/>
              </a:spcBef>
            </a:pPr>
            <a:endParaRPr lang="en-US" altLang="en-GB" dirty="0"/>
          </a:p>
          <a:p>
            <a:pPr>
              <a:spcBef>
                <a:spcPts val="600"/>
              </a:spcBef>
            </a:pPr>
            <a:r>
              <a:rPr lang="en-US" altLang="en-GB" dirty="0"/>
              <a:t>Simple definition for students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Microsoft Fabric is a unified analytics platform where we can ingest, store, transform, analyze, and visualize data in one environment.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080" y="321945"/>
            <a:ext cx="7542530" cy="307340"/>
          </a:xfrm>
        </p:spPr>
        <p:txBody>
          <a:bodyPr wrap="square"/>
          <a:lstStyle/>
          <a:p>
            <a:r>
              <a:rPr lang="en-US" altLang="en-GB" sz="2000" dirty="0"/>
              <a:t>Traditional approach			Fabric approch</a:t>
            </a:r>
            <a:endParaRPr lang="en-US" altLang="en-GB" sz="2000" dirty="0"/>
          </a:p>
        </p:txBody>
      </p:sp>
      <p:sp>
        <p:nvSpPr>
          <p:cNvPr id="5" name="Text Box 4"/>
          <p:cNvSpPr txBox="1"/>
          <p:nvPr/>
        </p:nvSpPr>
        <p:spPr>
          <a:xfrm>
            <a:off x="1524000" y="819150"/>
            <a:ext cx="457200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200"/>
              <a:t>Data Sources</a:t>
            </a:r>
            <a:endParaRPr lang="en-US" altLang="en-GB" sz="1200"/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Azure Data Factory</a:t>
            </a:r>
            <a:endParaRPr lang="en-US" altLang="en-GB" sz="1200"/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Data Lake</a:t>
            </a:r>
            <a:endParaRPr lang="en-US" altLang="en-GB" sz="1200"/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Databricks / Spark</a:t>
            </a:r>
            <a:endParaRPr lang="en-US" altLang="en-GB" sz="1200"/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SQL Data Warehouse</a:t>
            </a:r>
            <a:endParaRPr lang="en-US" altLang="en-GB" sz="1200"/>
          </a:p>
          <a:p>
            <a:r>
              <a:rPr lang="en-US" altLang="en-GB" sz="1200"/>
              <a:t>    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Power BI</a:t>
            </a:r>
            <a:endParaRPr lang="en-US" altLang="en-GB" sz="1200"/>
          </a:p>
        </p:txBody>
      </p:sp>
      <p:sp>
        <p:nvSpPr>
          <p:cNvPr id="7" name="Text Box 6"/>
          <p:cNvSpPr txBox="1"/>
          <p:nvPr/>
        </p:nvSpPr>
        <p:spPr>
          <a:xfrm>
            <a:off x="3962400" y="629285"/>
            <a:ext cx="64954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200"/>
              <a:t>                 	        Microsoft Fabric</a:t>
            </a:r>
            <a:endParaRPr lang="en-US" altLang="en-GB" sz="1200"/>
          </a:p>
          <a:p>
            <a:r>
              <a:rPr lang="en-US" altLang="en-GB" sz="1200"/>
              <a:t>                     		  </a:t>
            </a:r>
            <a:r>
              <a:rPr lang="en-US" altLang="en-US" sz="1200"/>
              <a:t>│</a:t>
            </a:r>
            <a:endParaRPr lang="en-US" altLang="en-US" sz="1200"/>
          </a:p>
          <a:p>
            <a:r>
              <a:rPr lang="en-US" altLang="en-GB" sz="1200"/>
              <a:t>        </a:t>
            </a:r>
            <a:r>
              <a:rPr lang="en-US" altLang="en-US" sz="1200"/>
              <a:t>┌────────────────────────────┐</a:t>
            </a:r>
            <a:endParaRPr lang="en-US" altLang="en-US" sz="1200"/>
          </a:p>
          <a:p>
            <a:r>
              <a:rPr lang="en-US" altLang="en-GB" sz="1200"/>
              <a:t>        </a:t>
            </a:r>
            <a:r>
              <a:rPr lang="en-US" altLang="en-US" sz="1200"/>
              <a:t>↓</a:t>
            </a:r>
            <a:r>
              <a:rPr lang="en-US" altLang="en-GB" sz="1200"/>
              <a:t>                           	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   Data Factory    Data Engineering  	        Warehouse</a:t>
            </a:r>
            <a:endParaRPr lang="en-US" altLang="en-GB" sz="1200"/>
          </a:p>
          <a:p>
            <a:r>
              <a:rPr lang="en-US" altLang="en-GB" sz="1200"/>
              <a:t>        </a:t>
            </a:r>
            <a:r>
              <a:rPr lang="en-US" altLang="en-US" sz="1200"/>
              <a:t>↓</a:t>
            </a:r>
            <a:r>
              <a:rPr lang="en-US" altLang="en-GB" sz="1200"/>
              <a:t>                            </a:t>
            </a:r>
            <a:r>
              <a:rPr lang="en-US" altLang="en-US" sz="1200"/>
              <a:t>↓		                 </a:t>
            </a:r>
            <a:r>
              <a:rPr lang="en-US" altLang="en-US" sz="1200">
                <a:sym typeface="+mn-ea"/>
              </a:rPr>
              <a:t>↓</a:t>
            </a:r>
            <a:endParaRPr lang="en-US" altLang="en-US" sz="1200"/>
          </a:p>
          <a:p>
            <a:r>
              <a:rPr lang="en-US" altLang="en-GB" sz="1200"/>
              <a:t>                 	            OneLake</a:t>
            </a:r>
            <a:endParaRPr lang="en-US" altLang="en-GB" sz="1200"/>
          </a:p>
          <a:p>
            <a:r>
              <a:rPr lang="en-US" altLang="en-GB" sz="1200"/>
              <a:t>                     	                  </a:t>
            </a:r>
            <a:r>
              <a:rPr lang="en-US" altLang="en-US" sz="1200"/>
              <a:t>↓</a:t>
            </a:r>
            <a:endParaRPr lang="en-US" altLang="en-US" sz="1200"/>
          </a:p>
          <a:p>
            <a:r>
              <a:rPr lang="en-US" altLang="en-GB" sz="1200"/>
              <a:t>                  	           Power BI</a:t>
            </a:r>
            <a:endParaRPr lang="en-US" altLang="en-GB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Why Microsoft Fabric?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17004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GB" dirty="0"/>
              <a:t>The main reason for Fabric is unification.</a:t>
            </a:r>
            <a:endParaRPr lang="en-US" altLang="en-GB" dirty="0"/>
          </a:p>
          <a:p>
            <a:pPr>
              <a:spcBef>
                <a:spcPts val="600"/>
              </a:spcBef>
            </a:pPr>
            <a:r>
              <a:rPr lang="en-US" altLang="en-GB" dirty="0"/>
              <a:t>Without Fabric You may have: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Azure Data Factory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Azure Data Lake Storage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Azure Databricks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Synapse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Power BI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Separate security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Separate monitoring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Multiple tools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GB" dirty="0"/>
              <a:t>With Fabric</a:t>
            </a:r>
            <a:endParaRPr lang="en-US" altLang="en-GB" dirty="0"/>
          </a:p>
          <a:p>
            <a:pPr lvl="0" indent="457200">
              <a:spcBef>
                <a:spcPts val="600"/>
              </a:spcBef>
            </a:pPr>
            <a:r>
              <a:rPr lang="en-US" altLang="en-GB" dirty="0"/>
              <a:t>Many of these capabilities are available through a single SaaS analytics platform.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Key benefits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170045"/>
          </a:xfrm>
        </p:spPr>
        <p:txBody>
          <a:bodyPr/>
          <a:lstStyle/>
          <a:p>
            <a:pPr lvl="1">
              <a:spcBef>
                <a:spcPts val="600"/>
              </a:spcBef>
            </a:pPr>
            <a:r>
              <a:rPr lang="en-US" altLang="en-GB" dirty="0"/>
              <a:t>One platform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OneLake centralized storage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Integrated workloads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Less data movement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Easy integration with Power BI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Centralized governance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Shared security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engineering with Spark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warehousing with SQL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pipelines and Dataflows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Real-time analytics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AI and data science capabilities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OneLake?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55372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OneLake is Microsoft Fabric's unified, tenant-wide data lake that provides a single storage layer for Fabric workloads..</a:t>
            </a:r>
            <a:endParaRPr lang="en-US" alt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80" y="1581150"/>
            <a:ext cx="3111500" cy="2038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What is a Lakehouse?</a:t>
            </a:r>
            <a:endParaRPr lang="en-US" altLang="en-GB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61544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A Lakehouse combines concepts of: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Lake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Warehouse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GB" dirty="0"/>
              <a:t>It allows us to store large amounts of data in a lake while also providing structured tables and SQL capabilities.</a:t>
            </a:r>
            <a:endParaRPr lang="en-US" alt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800350"/>
            <a:ext cx="2540000" cy="1790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Lakehouse contains</a:t>
            </a:r>
            <a:endParaRPr lang="en-US" altLang="en-GB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61544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A Lakehouse combines concepts of: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Lake</a:t>
            </a:r>
            <a:endParaRPr lang="en-US" altLang="en-GB" dirty="0"/>
          </a:p>
          <a:p>
            <a:pPr lvl="1">
              <a:spcBef>
                <a:spcPts val="600"/>
              </a:spcBef>
            </a:pPr>
            <a:r>
              <a:rPr lang="en-US" altLang="en-GB" dirty="0"/>
              <a:t>Data Warehouse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GB" dirty="0"/>
              <a:t>It allows us to store large amounts of data in a lake while also providing structured tables and SQL capabilities.</a:t>
            </a:r>
            <a:endParaRPr lang="en-US" alt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800350"/>
            <a:ext cx="2540000" cy="1790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Lakehouse contains</a:t>
            </a:r>
            <a:endParaRPr lang="en-US" alt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742950"/>
            <a:ext cx="2101850" cy="13906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3080" y="2419033"/>
            <a:ext cx="5080000" cy="24199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1400" b="1"/>
              <a:t>When to use Lakehouse?</a:t>
            </a:r>
            <a:endParaRPr lang="en-US" altLang="zh-CN" sz="1400" b="1"/>
          </a:p>
          <a:p>
            <a:r>
              <a:rPr lang="en-US" altLang="zh-CN" sz="1600"/>
              <a:t>Use a Lakehouse when you need: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Spark 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PySpark 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Data engineering 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Large-scale data processing 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Data science 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Semi-structured data </a:t>
            </a:r>
            <a:endParaRPr lang="en-US" altLang="zh-CN" sz="1600"/>
          </a:p>
          <a:p>
            <a:pPr lvl="5">
              <a:buFont typeface="Arial" panose="020B0604020202020204"/>
              <a:buChar char="•"/>
            </a:pPr>
            <a:r>
              <a:rPr lang="en-US" altLang="zh-CN" sz="1600"/>
              <a:t> Structured data</a:t>
            </a: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>
                <a:sym typeface="+mn-ea"/>
              </a:rPr>
              <a:t>What is a Workspace?</a:t>
            </a:r>
            <a:endParaRPr lang="en-US" altLang="en-GB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1635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altLang="en-GB" dirty="0"/>
              <a:t>A Workspace is a logical container where Fabric items are created, stored, and managed.</a:t>
            </a:r>
            <a:endParaRPr lang="en-US" altLang="en-GB" dirty="0"/>
          </a:p>
          <a:p>
            <a:pPr lvl="0">
              <a:spcBef>
                <a:spcPts val="600"/>
              </a:spcBef>
            </a:pP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GB" dirty="0"/>
              <a:t>Workspace: SalesAnalytics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│</a:t>
            </a:r>
            <a:endParaRPr lang="en-US" altLang="en-US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Lakehouse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Warehouse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Data Pipeline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Dataflow Gen2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Notebook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├──</a:t>
            </a:r>
            <a:r>
              <a:rPr lang="en-US" altLang="en-GB" dirty="0"/>
              <a:t> Semantic Model</a:t>
            </a:r>
            <a:endParaRPr lang="en-US" altLang="en-GB" dirty="0"/>
          </a:p>
          <a:p>
            <a:pPr lvl="0">
              <a:spcBef>
                <a:spcPts val="600"/>
              </a:spcBef>
            </a:pPr>
            <a:r>
              <a:rPr lang="en-US" altLang="en-US" dirty="0"/>
              <a:t>└──</a:t>
            </a:r>
            <a:r>
              <a:rPr lang="en-US" altLang="en-GB" dirty="0"/>
              <a:t> Power BI Report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For example:</a:t>
            </a:r>
            <a:endParaRPr lang="en-US" altLang="en-GB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15" y="895350"/>
            <a:ext cx="3390900" cy="17208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13080" y="2882265"/>
            <a:ext cx="5080000" cy="22326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1800" b="0">
                <a:latin typeface="+mn-lt"/>
                <a:cs typeface="+mn-lt"/>
              </a:rPr>
              <a:t>Workspace is also important for</a:t>
            </a:r>
            <a:endParaRPr lang="en-US" altLang="zh-CN" sz="1800" b="0">
              <a:latin typeface="+mn-lt"/>
              <a:cs typeface="+mn-lt"/>
            </a:endParaRP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Collaboration </a:t>
            </a:r>
            <a:endParaRPr lang="en-US" altLang="zh-CN" sz="1800">
              <a:latin typeface="+mn-lt"/>
              <a:cs typeface="+mn-lt"/>
            </a:endParaRP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Security </a:t>
            </a:r>
            <a:endParaRPr lang="en-US" altLang="zh-CN" sz="1800">
              <a:latin typeface="+mn-lt"/>
              <a:cs typeface="+mn-lt"/>
            </a:endParaRP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Permissions </a:t>
            </a:r>
            <a:endParaRPr lang="en-US" altLang="zh-CN" sz="1800">
              <a:latin typeface="+mn-lt"/>
              <a:cs typeface="+mn-lt"/>
            </a:endParaRP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Development </a:t>
            </a:r>
            <a:endParaRPr lang="en-US" altLang="zh-CN" sz="1800">
              <a:latin typeface="+mn-lt"/>
              <a:cs typeface="+mn-lt"/>
            </a:endParaRP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Deployment </a:t>
            </a:r>
            <a:endParaRPr lang="en-US" altLang="zh-CN" sz="1800">
              <a:latin typeface="+mn-lt"/>
              <a:cs typeface="+mn-lt"/>
            </a:endParaRPr>
          </a:p>
          <a:p>
            <a:pPr lvl="1">
              <a:buFont typeface="Arial" panose="020B0604020202020204"/>
              <a:buChar char="•"/>
            </a:pPr>
            <a:r>
              <a:rPr lang="en-US" altLang="zh-CN" sz="1800">
                <a:latin typeface="+mn-lt"/>
                <a:cs typeface="+mn-lt"/>
              </a:rPr>
              <a:t> Organizing Fabric items</a:t>
            </a:r>
            <a:endParaRPr lang="en-US" altLang="zh-CN" sz="1800">
              <a:latin typeface="+mn-lt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zh-CN" sz="2000">
                <a:sym typeface="+mn-ea"/>
              </a:rPr>
              <a:t>What is SQL Analytics Endpoint?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/>
              <a:t>When you create a Lakehouse, Fabric provides a SQL Analytics Endpoint that allows you to query the Lakehouse tables using SQL.</a:t>
            </a:r>
            <a:endParaRPr lang="en-US" altLang="zh-CN" sz="1600"/>
          </a:p>
          <a:p>
            <a:r>
              <a:rPr lang="en-US" altLang="zh-CN" sz="1600"/>
              <a:t>For example: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en-GB" sz="1600"/>
              <a:t>SELECT *</a:t>
            </a:r>
            <a:endParaRPr lang="en-US" altLang="en-GB" sz="1600"/>
          </a:p>
          <a:p>
            <a:r>
              <a:rPr lang="en-US" altLang="en-GB" sz="1600"/>
              <a:t>FROM Customers;</a:t>
            </a:r>
            <a:endParaRPr lang="en-US" altLang="en-GB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495550"/>
            <a:ext cx="4997450" cy="213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>
                <a:sym typeface="+mn-ea"/>
              </a:rPr>
              <a:t>What is a Warehouse?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GB" sz="1600"/>
              <a:t>A Fabric Warehouse is a relational data warehouse designed primarily for SQL-based analytical workloads.</a:t>
            </a:r>
            <a:endParaRPr lang="en-US" altLang="en-GB" sz="1600"/>
          </a:p>
          <a:p>
            <a:endParaRPr lang="en-US" altLang="en-GB" sz="1600"/>
          </a:p>
          <a:p>
            <a:r>
              <a:rPr lang="en-US" altLang="en-GB" sz="1600"/>
              <a:t>Example:</a:t>
            </a:r>
            <a:endParaRPr lang="en-US" altLang="en-GB" sz="1600"/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Sales</a:t>
            </a:r>
            <a:endParaRPr lang="en-US" altLang="en-GB" sz="1600"/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Customer</a:t>
            </a:r>
            <a:endParaRPr lang="en-US" altLang="en-GB" sz="1600"/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Product</a:t>
            </a:r>
            <a:endParaRPr lang="en-US" altLang="en-GB" sz="1600"/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altLang="en-GB" sz="1600"/>
              <a:t>Date</a:t>
            </a:r>
            <a:endParaRPr lang="en-US" altLang="en-GB" sz="1600"/>
          </a:p>
          <a:p>
            <a:pPr lvl="4"/>
            <a:endParaRPr lang="en-US" altLang="en-GB" sz="1600"/>
          </a:p>
          <a:p>
            <a:pPr lvl="4"/>
            <a:r>
              <a:rPr lang="en-US" altLang="en-GB" sz="1600"/>
              <a:t>Warehouse is suitable for</a:t>
            </a:r>
            <a:endParaRPr lang="en-US" altLang="en-GB" sz="1600"/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Structured data</a:t>
            </a:r>
            <a:endParaRPr lang="en-US" altLang="en-GB" sz="1600"/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SQL developers</a:t>
            </a:r>
            <a:endParaRPr lang="en-US" altLang="en-GB" sz="1600"/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Dimensional modeling</a:t>
            </a:r>
            <a:endParaRPr lang="en-US" altLang="en-GB" sz="1600"/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Star schemas</a:t>
            </a:r>
            <a:endParaRPr lang="en-US" altLang="en-GB" sz="1600"/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BI reporting</a:t>
            </a:r>
            <a:endParaRPr lang="en-US" altLang="en-GB" sz="1600"/>
          </a:p>
          <a:p>
            <a:pPr marL="800100" lvl="6" indent="-342900">
              <a:buFont typeface="Arial" panose="020B0604020202020204" pitchFamily="34" charset="0"/>
              <a:buChar char="•"/>
            </a:pPr>
            <a:r>
              <a:rPr lang="en-US" altLang="en-GB" sz="1600"/>
              <a:t>Analytical SQL</a:t>
            </a:r>
            <a:endParaRPr lang="en-US" altLang="en-GB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Lakehouse vs Warehouse</a:t>
            </a:r>
            <a:endParaRPr lang="en-US" altLang="en-GB" sz="2000" dirty="0"/>
          </a:p>
        </p:txBody>
      </p:sp>
      <p:graphicFrame>
        <p:nvGraphicFramePr>
          <p:cNvPr id="4" name="Table 3"/>
          <p:cNvGraphicFramePr/>
          <p:nvPr/>
        </p:nvGraphicFramePr>
        <p:xfrm>
          <a:off x="525145" y="895350"/>
          <a:ext cx="7863840" cy="192024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lang="en-US" altLang="zh-CN" sz="1800"/>
                        <a:t>Lakehouse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Warehouse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Data lake + tables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Data warehouse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Spark + SQL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Primarily SQL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Structured + semi-structured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Primarily structured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Data engineering friendly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SQL/BI friendly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Files + Tables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Tables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Great for engineering/data science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Great for analytical SQL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09600" y="318166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Lakehouse → Data Engineers + Spark + SQL</a:t>
            </a:r>
            <a:endParaRPr lang="en-US" altLang="zh-CN" sz="1600"/>
          </a:p>
          <a:p>
            <a:r>
              <a:rPr lang="en-US" altLang="zh-CN" sz="1600"/>
              <a:t>Warehouse → SQL Developers + BI + Analytics</a:t>
            </a:r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>
                <a:sym typeface="+mn-ea"/>
              </a:rPr>
              <a:t>What is a Workload?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GB" sz="1600"/>
              <a:t>A workload represents a specific type of analytics activity performed within Fabric.</a:t>
            </a:r>
            <a:endParaRPr lang="en-US" altLang="en-GB" sz="1600"/>
          </a:p>
        </p:txBody>
      </p:sp>
      <p:sp>
        <p:nvSpPr>
          <p:cNvPr id="4" name="Text Box 3"/>
          <p:cNvSpPr txBox="1"/>
          <p:nvPr/>
        </p:nvSpPr>
        <p:spPr>
          <a:xfrm>
            <a:off x="2209800" y="1352550"/>
            <a:ext cx="45720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/>
              <a:t>Data Engineer</a:t>
            </a:r>
            <a:endParaRPr lang="en-US" altLang="en-GB" sz="1400"/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en-US" altLang="en-GB" sz="1400"/>
              <a:t>Data Engineering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Data Analyst</a:t>
            </a:r>
            <a:endParaRPr lang="en-US" altLang="en-GB" sz="1400"/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en-US" altLang="en-GB" sz="1400"/>
              <a:t>Power BI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SQL Developer</a:t>
            </a:r>
            <a:endParaRPr lang="en-US" altLang="en-GB" sz="1400"/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en-US" altLang="en-GB" sz="1400"/>
              <a:t>Data Warehouse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Data Scientist</a:t>
            </a:r>
            <a:endParaRPr lang="en-US" altLang="en-GB" sz="1400"/>
          </a:p>
          <a:p>
            <a:r>
              <a:rPr lang="en-US" altLang="en-GB" sz="1400"/>
              <a:t>      </a:t>
            </a:r>
            <a:r>
              <a:rPr lang="en-US" altLang="en-US" sz="1400"/>
              <a:t>↓</a:t>
            </a:r>
            <a:endParaRPr lang="en-US" altLang="en-US" sz="1400"/>
          </a:p>
          <a:p>
            <a:r>
              <a:rPr lang="en-US" altLang="en-GB" sz="1400"/>
              <a:t>Data Science</a:t>
            </a:r>
            <a:endParaRPr lang="en-US" altLang="en-GB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340"/>
          </a:xfrm>
        </p:spPr>
        <p:txBody>
          <a:bodyPr/>
          <a:lstStyle/>
          <a:p>
            <a:r>
              <a:rPr lang="en-US" altLang="en-GB" sz="2000" dirty="0"/>
              <a:t>Types of Fabric Workloads</a:t>
            </a:r>
            <a:endParaRPr lang="en-US" altLang="en-GB" sz="2000" dirty="0"/>
          </a:p>
        </p:txBody>
      </p:sp>
      <p:sp>
        <p:nvSpPr>
          <p:cNvPr id="3" name="Text Box 2"/>
          <p:cNvSpPr txBox="1"/>
          <p:nvPr/>
        </p:nvSpPr>
        <p:spPr>
          <a:xfrm>
            <a:off x="501650" y="765175"/>
            <a:ext cx="8281670" cy="291973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GB" sz="1800">
                <a:latin typeface="+mj-lt"/>
                <a:cs typeface="+mj-lt"/>
              </a:rPr>
              <a:t>A workload represents a specific type of analytics activity performed within Fabric.</a:t>
            </a:r>
            <a:endParaRPr lang="en-US" altLang="en-GB" sz="1800">
              <a:latin typeface="+mj-lt"/>
              <a:cs typeface="+mj-lt"/>
            </a:endParaRPr>
          </a:p>
          <a:p>
            <a:endParaRPr lang="en-US" altLang="en-GB" sz="1800">
              <a:latin typeface="+mj-lt"/>
              <a:cs typeface="+mj-lt"/>
            </a:endParaRPr>
          </a:p>
          <a:p>
            <a:r>
              <a:rPr lang="en-US" altLang="en-GB" sz="1800" b="1">
                <a:latin typeface="+mj-lt"/>
                <a:cs typeface="+mj-lt"/>
              </a:rPr>
              <a:t>1. Data Factory</a:t>
            </a:r>
            <a:endParaRPr lang="en-US" altLang="en-GB" sz="1800" b="1">
              <a:latin typeface="+mj-lt"/>
              <a:cs typeface="+mj-lt"/>
            </a:endParaRPr>
          </a:p>
          <a:p>
            <a:pPr marL="0" lvl="1" indent="0">
              <a:buNone/>
            </a:pPr>
            <a:r>
              <a:rPr lang="en-US" altLang="en-GB" sz="1800">
                <a:latin typeface="+mj-lt"/>
                <a:cs typeface="+mj-lt"/>
              </a:rPr>
              <a:t>Used for: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Data ingestion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Data integration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Pipelines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Dataflows</a:t>
            </a:r>
            <a:endParaRPr lang="en-US" altLang="en-GB" sz="1800">
              <a:latin typeface="+mj-lt"/>
              <a:cs typeface="+mj-lt"/>
            </a:endParaRPr>
          </a:p>
          <a:p>
            <a:r>
              <a:rPr lang="en-US" altLang="en-GB" sz="1800" b="1">
                <a:latin typeface="+mj-lt"/>
                <a:cs typeface="+mj-lt"/>
              </a:rPr>
              <a:t>2. Data Engineering</a:t>
            </a:r>
            <a:endParaRPr lang="en-US" altLang="en-GB" sz="1800" b="1">
              <a:latin typeface="+mj-lt"/>
              <a:cs typeface="+mj-lt"/>
            </a:endParaRPr>
          </a:p>
          <a:p>
            <a:r>
              <a:rPr lang="en-US" altLang="en-GB" sz="1800">
                <a:latin typeface="+mj-lt"/>
                <a:cs typeface="+mj-lt"/>
              </a:rPr>
              <a:t>Used for: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Spark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PySpark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Notebooks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Lakehouse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+mj-lt"/>
                <a:cs typeface="+mj-lt"/>
              </a:rPr>
              <a:t>Big data processing</a:t>
            </a:r>
            <a:endParaRPr lang="en-US" altLang="en-GB" sz="1800">
              <a:latin typeface="+mj-lt"/>
              <a:cs typeface="+mj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altLang="en-GB" sz="1800">
              <a:latin typeface="+mj-lt"/>
              <a:cs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Types of Fabric Workloads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667"/>
            <a:ext cx="5080000" cy="393065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1800" b="1">
                <a:latin typeface="+mn-lt"/>
                <a:cs typeface="+mn-lt"/>
              </a:rPr>
              <a:t>Data Science</a:t>
            </a:r>
            <a:endParaRPr lang="en-US" altLang="zh-CN" sz="1800" b="1">
              <a:latin typeface="+mn-lt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lang="en-US" altLang="zh-CN" sz="1800">
                <a:latin typeface="+mn-lt"/>
                <a:cs typeface="+mn-lt"/>
              </a:rPr>
              <a:t>U</a:t>
            </a: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sed for:</a:t>
            </a:r>
            <a:endParaRPr kumimoji="0" lang="en-US" altLang="zh-CN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 Machine</a:t>
            </a:r>
            <a:r>
              <a:rPr lang="en-US" altLang="zh-CN" sz="1800">
                <a:latin typeface="+mn-lt"/>
                <a:cs typeface="+mn-lt"/>
              </a:rPr>
              <a:t> learning </a:t>
            </a:r>
            <a:endParaRPr lang="en-US" altLang="zh-CN" sz="1800">
              <a:latin typeface="+mn-lt"/>
              <a:cs typeface="+mn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Data exploration </a:t>
            </a:r>
            <a:endParaRPr lang="en-US" altLang="zh-CN" sz="1800">
              <a:latin typeface="+mn-lt"/>
              <a:cs typeface="+mn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Experiments </a:t>
            </a:r>
            <a:endParaRPr lang="en-US" altLang="zh-CN" sz="1800">
              <a:latin typeface="+mn-lt"/>
              <a:cs typeface="+mn-lt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ML models </a:t>
            </a:r>
            <a:endParaRPr lang="en-US" altLang="zh-CN" sz="1800">
              <a:latin typeface="+mn-lt"/>
              <a:cs typeface="+mn-lt"/>
            </a:endParaRPr>
          </a:p>
          <a:p>
            <a:pPr>
              <a:lnSpc>
                <a:spcPct val="70000"/>
              </a:lnSpc>
              <a:spcAft>
                <a:spcPct val="60000"/>
              </a:spcAft>
            </a:pPr>
            <a:r>
              <a:rPr lang="en-US" altLang="zh-CN" sz="1800" b="1">
                <a:latin typeface="+mn-lt"/>
                <a:cs typeface="+mn-lt"/>
              </a:rPr>
              <a:t>4. Data Warehouse</a:t>
            </a:r>
            <a:endParaRPr lang="en-US" altLang="zh-CN" sz="1800" b="1">
              <a:latin typeface="+mn-lt"/>
              <a:cs typeface="+mn-lt"/>
            </a:endParaRPr>
          </a:p>
          <a:p>
            <a:pPr>
              <a:lnSpc>
                <a:spcPct val="70000"/>
              </a:lnSpc>
            </a:pPr>
            <a:r>
              <a:rPr lang="en-US" altLang="zh-CN" sz="1800">
                <a:latin typeface="+mn-lt"/>
                <a:cs typeface="+mn-lt"/>
              </a:rPr>
              <a:t>Used for:</a:t>
            </a:r>
            <a:endParaRPr lang="en-US" altLang="zh-CN" sz="1800">
              <a:latin typeface="+mn-lt"/>
              <a:cs typeface="+mn-lt"/>
            </a:endParaRP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SQL </a:t>
            </a:r>
            <a:endParaRPr lang="en-US" altLang="zh-CN" sz="1800">
              <a:latin typeface="+mn-lt"/>
              <a:cs typeface="+mn-lt"/>
            </a:endParaRP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Relational data </a:t>
            </a:r>
            <a:endParaRPr lang="en-US" altLang="zh-CN" sz="1800">
              <a:latin typeface="+mn-lt"/>
              <a:cs typeface="+mn-lt"/>
            </a:endParaRP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Analytical queries </a:t>
            </a:r>
            <a:endParaRPr lang="en-US" altLang="zh-CN" sz="1800">
              <a:latin typeface="+mn-lt"/>
              <a:cs typeface="+mn-lt"/>
            </a:endParaRP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+mn-lt"/>
                <a:cs typeface="+mn-lt"/>
              </a:rPr>
              <a:t> Data warehousing </a:t>
            </a:r>
            <a:endParaRPr lang="en-US" altLang="zh-CN" sz="1800">
              <a:latin typeface="+mn-lt"/>
              <a:cs typeface="+mn-lt"/>
            </a:endParaRPr>
          </a:p>
          <a:p>
            <a:pPr>
              <a:spcAft>
                <a:spcPct val="60000"/>
              </a:spcAft>
            </a:pPr>
            <a:endParaRPr lang="en-US" altLang="zh-CN" sz="1800">
              <a:latin typeface="+mn-lt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Types of Fabric Workloads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667"/>
            <a:ext cx="5080000" cy="1753235"/>
          </a:xfrm>
          <a:prstGeom prst="rect">
            <a:avLst/>
          </a:prstGeom>
        </p:spPr>
        <p:txBody>
          <a:bodyPr>
            <a:spAutoFit/>
          </a:bodyPr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lang="en-US" altLang="en-GB" sz="1800" b="1">
                <a:latin typeface="+mn-lt"/>
                <a:cs typeface="+mn-lt"/>
              </a:rPr>
              <a:t>6. </a:t>
            </a:r>
            <a:r>
              <a:rPr kumimoji="0" lang="en-US" altLang="en-GB" sz="1800" b="1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Power BI</a:t>
            </a:r>
            <a:endParaRPr kumimoji="0" lang="en-US" altLang="en-GB" sz="1800" b="1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Used for: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GB" sz="1800">
                <a:latin typeface="+mn-lt"/>
                <a:cs typeface="+mn-lt"/>
              </a:rPr>
              <a:t>S</a:t>
            </a: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emantic models</a:t>
            </a:r>
            <a:endParaRPr kumimoji="0" lang="en-US" altLang="zh-CN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Reports</a:t>
            </a:r>
            <a:endParaRPr kumimoji="0" lang="en-US" altLang="zh-CN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Dashboards</a:t>
            </a:r>
            <a:endParaRPr kumimoji="0" lang="en-US" altLang="zh-CN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742950" marR="0" lvl="2" indent="-285750" algn="l" rtl="0" eaLnBrk="1" fontAlgn="auto" latinLnBrk="0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Visualization</a:t>
            </a:r>
            <a:endParaRPr kumimoji="0" lang="en-US" altLang="zh-CN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Data Factory in Fabric?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 Factory is the Fabric workload used for data integration and data ingestion.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It helps us move and transform data from different sources into Fabric.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Example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2190750"/>
            <a:ext cx="3644900" cy="2101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Data Factory in Fabric?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 Factory provides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Pipelines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Copy Data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Dataflow Gen2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 integration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Scheduling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Orchestration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a Pipeline?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A Pipeline is an orchestration mechanism used to execute a series of data activities in a specific order.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45720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For example: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21840"/>
            <a:ext cx="3067050" cy="1873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Copy Data Activity?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Copy Data is an activity inside a pipeline used to move data from a source to a destination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80" y="1657350"/>
            <a:ext cx="4000500" cy="133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b="0">
                <a:latin typeface="+mn-lt"/>
                <a:ea typeface="Arial" panose="020B0604020202020204" pitchFamily="34" charset="0"/>
                <a:cs typeface="+mn-lt"/>
                <a:sym typeface="+mn-ea"/>
              </a:rPr>
              <a:t>What is Dataflow Gen2?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13080" y="895350"/>
            <a:ext cx="8048625" cy="396938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Dataflow Gen2 is a low-code/no-code data transformation and integration capability in Fabric.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It is based on the Power Query experience.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You can perform transformations such as: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0" marR="0" lvl="1" indent="0" algn="l" rtl="0" eaLnBrk="1" fontAlgn="auto" latinLnBrk="0" hangingPunct="1">
              <a:buClrTx/>
              <a:buSzTx/>
              <a:buNone/>
            </a:pP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Filter rows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Remove columns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Rename columns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Change data types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Merge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Append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Group By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Replace values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  <a:p>
            <a:pPr marL="457200" marR="0" lvl="2" indent="0" algn="l" rtl="0" eaLnBrk="1" fontAlgn="auto" latinLnBrk="0" hangingPunct="1">
              <a:buClrTx/>
              <a:buSzTx/>
              <a:buNone/>
            </a:pPr>
            <a:r>
              <a:rPr kumimoji="0" lang="en-US" altLang="en-GB" sz="1800" b="0" i="0" u="none" strike="noStrike" kern="0" cap="none" spc="0" normalizeH="0" baseline="0" noProof="1">
                <a:latin typeface="+mn-lt"/>
                <a:ea typeface="Arial" panose="020B0604020202020204" pitchFamily="34" charset="0"/>
                <a:cs typeface="+mn-lt"/>
              </a:rPr>
              <a:t>Derived columns</a:t>
            </a:r>
            <a:endParaRPr kumimoji="0" lang="en-US" altLang="en-GB" sz="1800" b="0" i="0" u="none" strike="noStrike" kern="0" cap="none" spc="0" normalizeH="0" baseline="0" noProof="1">
              <a:latin typeface="+mn-lt"/>
              <a:ea typeface="Arial" panose="020B0604020202020204" pitchFamily="34" charset="0"/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Dataflow Gen2 vs Copy Data</a:t>
            </a:r>
            <a:endParaRPr lang="en-US" altLang="en-GB"/>
          </a:p>
        </p:txBody>
      </p:sp>
      <p:graphicFrame>
        <p:nvGraphicFramePr>
          <p:cNvPr id="2" name="Table 1"/>
          <p:cNvGraphicFramePr/>
          <p:nvPr/>
        </p:nvGraphicFramePr>
        <p:xfrm>
          <a:off x="609600" y="876935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lang="en-US" altLang="zh-CN" sz="1800"/>
                        <a:t>Copy Data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Dataflow Gen2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Mainly moves data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Moves + transforms data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Simple ingestion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Transformation-focused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Pipeline activity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Power Query experience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Low transformation capability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Rich transformations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800"/>
                        <a:t>A → B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Source → Transform → Destination</a:t>
                      </a:r>
                      <a:endParaRPr lang="en-US" altLang="zh-CN"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093" y="2233930"/>
            <a:ext cx="2608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2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Thank</a:t>
            </a:r>
            <a:r>
              <a:rPr sz="4000" b="0" spc="1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133336" cy="5137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5306</Words>
  <Application>WPS Presentation</Application>
  <PresentationFormat>On-screen Show (16:9)</PresentationFormat>
  <Paragraphs>312</Paragraphs>
  <Slides>25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Microsoft YaHei</vt:lpstr>
      <vt:lpstr>Arial Unicode MS</vt:lpstr>
      <vt:lpstr>Calibri</vt:lpstr>
      <vt:lpstr>Arial</vt:lpstr>
      <vt:lpstr>Algerian</vt:lpstr>
      <vt:lpstr>Arial Black</vt:lpstr>
      <vt:lpstr>Office Theme</vt:lpstr>
      <vt:lpstr>PowerPoint 演示文稿</vt:lpstr>
      <vt:lpstr>What is Git?</vt:lpstr>
      <vt:lpstr> Real-Time Example</vt:lpstr>
      <vt:lpstr>Why Microsoft Fabric?</vt:lpstr>
      <vt:lpstr>What is GitHub?</vt:lpstr>
      <vt:lpstr>Key benefits</vt:lpstr>
      <vt:lpstr>What is OneLake?</vt:lpstr>
      <vt:lpstr>What is a Lakehouse?</vt:lpstr>
      <vt:lpstr>Staging Area</vt:lpstr>
      <vt:lpstr>Lakehouse contains</vt:lpstr>
      <vt:lpstr>What is a Workspace?</vt:lpstr>
      <vt:lpstr>For example:</vt:lpstr>
      <vt:lpstr>What is SQL Analytics Endpoint?</vt:lpstr>
      <vt:lpstr>What is a Warehouse?</vt:lpstr>
      <vt:lpstr>What is a Warehouse?</vt:lpstr>
      <vt:lpstr>What is a Workload?</vt:lpstr>
      <vt:lpstr>Types of Fabric Workloads</vt:lpstr>
      <vt:lpstr>Types of Fabric Workloads</vt:lpstr>
      <vt:lpstr>Types of Fabric Workloads</vt:lpstr>
      <vt:lpstr>What is Data Factory in Fabric?</vt:lpstr>
      <vt:lpstr>What is Data Factory in Fabric?</vt:lpstr>
      <vt:lpstr>What is a Pipeline?</vt:lpstr>
      <vt:lpstr>What is Copy Data Activity?</vt:lpstr>
      <vt:lpstr>What is Dataflow Gen2?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GUVI proposal for CHUBB</dc:title>
  <dc:creator>udhay</dc:creator>
  <cp:lastModifiedBy>WPS_1721743183</cp:lastModifiedBy>
  <cp:revision>70</cp:revision>
  <dcterms:created xsi:type="dcterms:W3CDTF">2025-06-18T10:57:00Z</dcterms:created>
  <dcterms:modified xsi:type="dcterms:W3CDTF">2026-09-07T02:18:31Z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2025-06-18T16:30:00Z</vt:filetime>
  </property>
  <property fmtid="{D5CDD505-2E9C-101B-9397-08002B2CF9AE}" pid="3" name="Creator">
    <vt:lpwstr>Google</vt:lpwstr>
  </property>
  <property fmtid="{D5CDD505-2E9C-101B-9397-08002B2CF9AE}" pid="4" name="LastSaved">
    <vt:filetime>2025-06-18T16:30:00Z</vt:filetime>
  </property>
  <property fmtid="{D5CDD505-2E9C-101B-9397-08002B2CF9AE}" pid="5" name="ICV">
    <vt:lpwstr>536F947E8E10461A90F92E40F0110660_13</vt:lpwstr>
  </property>
  <property fmtid="{D5CDD505-2E9C-101B-9397-08002B2CF9AE}" pid="6" name="KSOProductBuildVer">
    <vt:lpwstr>2057-12.2.0.23206</vt:lpwstr>
  </property>
</Properties>
</file>