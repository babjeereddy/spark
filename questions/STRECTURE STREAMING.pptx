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B7F2-B21A-BE07-8469-6E4A5F9CC4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STRECTURE STREAMING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922D3-3ED6-D7F8-CADE-1816E48068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8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896112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Topics Covered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Introduction to Streaming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Batch Processing vs Streaming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Structured Streaming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Streaming Sources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Streaming Sink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Types of Sinks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Output Modes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Triggers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Windowing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Types of Windows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Windowing vs Trigger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Watermarking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Checkpointing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Fault Tolerance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End-to-End Streaming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91124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3792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What is Streaming?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Streaming</a:t>
            </a:r>
            <a:r>
              <a:rPr lang="en-US" sz="2000" dirty="0"/>
              <a:t> is a data processing approach where data is processed continuously as it arrives.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Instead of waiting for all data to become available, a streaming application continuously consumes and processes incoming data.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Key characteristics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Continuous data arrival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Data is processed incrementally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Low-latency processing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Data is potentially unbounded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Processing happens continuously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New records can arrive at any time</a:t>
            </a:r>
          </a:p>
        </p:txBody>
      </p:sp>
    </p:spTree>
    <p:extLst>
      <p:ext uri="{BB962C8B-B14F-4D97-AF65-F5344CB8AC3E}">
        <p14:creationId xmlns:p14="http://schemas.microsoft.com/office/powerpoint/2010/main" val="1635462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3792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Streaming data characteristics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Streaming data is generally: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Continuous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Unbounded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Time-sensitive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High-volume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Frequently changing </a:t>
            </a:r>
          </a:p>
        </p:txBody>
      </p:sp>
    </p:spTree>
    <p:extLst>
      <p:ext uri="{BB962C8B-B14F-4D97-AF65-F5344CB8AC3E}">
        <p14:creationId xmlns:p14="http://schemas.microsoft.com/office/powerpoint/2010/main" val="53384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379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What is Batch Processing?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Batch processing</a:t>
            </a:r>
            <a:r>
              <a:rPr lang="en-US" sz="2000" dirty="0"/>
              <a:t> processes a finite collection of data as a single unit.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The system waits until a predefined amount of data is available and then processes that data.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Characteristics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Data is bounded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Processing happens periodically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Data is processed in groups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Usually higher latency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Processing has a defined beginning and end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Suitable for historical data processing </a:t>
            </a:r>
          </a:p>
        </p:txBody>
      </p:sp>
    </p:spTree>
    <p:extLst>
      <p:ext uri="{BB962C8B-B14F-4D97-AF65-F5344CB8AC3E}">
        <p14:creationId xmlns:p14="http://schemas.microsoft.com/office/powerpoint/2010/main" val="2057552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F94C38-86E6-EE29-5D6B-0DD7BB6F9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823342"/>
              </p:ext>
            </p:extLst>
          </p:nvPr>
        </p:nvGraphicFramePr>
        <p:xfrm>
          <a:off x="452120" y="999649"/>
          <a:ext cx="10131424" cy="32918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85264663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1835838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Batch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Streaming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7813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Processes bounded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Processes unbounded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366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Runs periodically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continuously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3574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Higher 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Lower 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9533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Data is processed in batches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is processed incrementally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965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Has a defined 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Usually continuously 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468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Suitable for historical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Suitable for real-time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2169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Simpler time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Requires event-time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915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Usually simpler fault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Requires checkpointing/state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289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D9681D-9C9A-C47B-595C-9F8D9708ED02}"/>
              </a:ext>
            </a:extLst>
          </p:cNvPr>
          <p:cNvSpPr txBox="1"/>
          <p:nvPr/>
        </p:nvSpPr>
        <p:spPr>
          <a:xfrm>
            <a:off x="452120" y="490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Batch Processing vs Streaming</a:t>
            </a:r>
          </a:p>
        </p:txBody>
      </p:sp>
    </p:spTree>
    <p:extLst>
      <p:ext uri="{BB962C8B-B14F-4D97-AF65-F5344CB8AC3E}">
        <p14:creationId xmlns:p14="http://schemas.microsoft.com/office/powerpoint/2010/main" val="41467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91768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Structured Streaming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Structured Streaming</a:t>
            </a:r>
            <a:r>
              <a:rPr lang="en-US" sz="2000" dirty="0"/>
              <a:t> is a scalable and fault-tolerant stream-processing engine built on top of Apache Spark SQL.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It allows developers to process streaming data using the </a:t>
            </a:r>
            <a:r>
              <a:rPr lang="en-US" sz="2000" b="1" dirty="0" err="1"/>
              <a:t>DataFrame</a:t>
            </a:r>
            <a:r>
              <a:rPr lang="en-US" sz="2000" b="1" dirty="0"/>
              <a:t> and Dataset APIs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Main characteristics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Built on Spark SQL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/>
              <a:t>DataFrame</a:t>
            </a:r>
            <a:r>
              <a:rPr lang="en-US" sz="2000" dirty="0"/>
              <a:t>-based API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Declarative processing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Fault tolerant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Scalable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Supports event-time processing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Supports window operations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Supports watermarks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Supports checkpointing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Supports multiple sources and sinks</a:t>
            </a:r>
          </a:p>
        </p:txBody>
      </p:sp>
    </p:spTree>
    <p:extLst>
      <p:ext uri="{BB962C8B-B14F-4D97-AF65-F5344CB8AC3E}">
        <p14:creationId xmlns:p14="http://schemas.microsoft.com/office/powerpoint/2010/main" val="237824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91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Structured Streaming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5D5A9-B2B1-33FD-F2AB-6D17CAF5C294}"/>
              </a:ext>
            </a:extLst>
          </p:cNvPr>
          <p:cNvSpPr txBox="1"/>
          <p:nvPr/>
        </p:nvSpPr>
        <p:spPr>
          <a:xfrm>
            <a:off x="1361440" y="113530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Streaming Source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Streaming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       ↓</a:t>
            </a:r>
          </a:p>
          <a:p>
            <a:r>
              <a:rPr lang="en-US" dirty="0"/>
              <a:t>Transformations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Aggregation / Windowing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State Management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Streaming Sink</a:t>
            </a:r>
          </a:p>
        </p:txBody>
      </p:sp>
    </p:spTree>
    <p:extLst>
      <p:ext uri="{BB962C8B-B14F-4D97-AF65-F5344CB8AC3E}">
        <p14:creationId xmlns:p14="http://schemas.microsoft.com/office/powerpoint/2010/main" val="121083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917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What is a Streaming Source?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b="1" dirty="0"/>
              <a:t>streaming source</a:t>
            </a:r>
            <a:r>
              <a:rPr lang="en-US" sz="2000" dirty="0"/>
              <a:t> is the system from which Structured Streaming continuously receives data.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The source provides new records to the streaming application.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Source responsibilities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Provide incoming data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Track available data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Provide data incrementally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Maintain source progress information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 recovery where applicable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486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91768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Types of Streaming Sources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Structured Streaming supports different types of streaming sources.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Major categories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File-based sources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Kafka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Socket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Rate source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Custom sources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866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182880" y="386080"/>
            <a:ext cx="119176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Streaming </a:t>
            </a:r>
            <a:r>
              <a:rPr lang="en-US" sz="2000" b="1" dirty="0" err="1"/>
              <a:t>DataFrame</a:t>
            </a:r>
            <a:endParaRPr lang="en-US" sz="2000" b="1" dirty="0"/>
          </a:p>
          <a:p>
            <a:r>
              <a:rPr lang="en-US" sz="2000" dirty="0"/>
              <a:t>A </a:t>
            </a:r>
            <a:r>
              <a:rPr lang="en-US" sz="2000" b="1" dirty="0"/>
              <a:t>Streaming </a:t>
            </a:r>
            <a:r>
              <a:rPr lang="en-US" sz="2000" b="1" dirty="0" err="1"/>
              <a:t>DataFrame</a:t>
            </a:r>
            <a:r>
              <a:rPr lang="en-US" sz="2000" dirty="0"/>
              <a:t> represents an unbounded table of continuously arriving data.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B24CD-0F5E-07BD-47E5-4D1189B2EBD9}"/>
              </a:ext>
            </a:extLst>
          </p:cNvPr>
          <p:cNvSpPr txBox="1"/>
          <p:nvPr/>
        </p:nvSpPr>
        <p:spPr>
          <a:xfrm>
            <a:off x="477520" y="129038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→</a:t>
            </a:r>
          </a:p>
          <a:p>
            <a:r>
              <a:rPr lang="en-US" dirty="0"/>
              <a:t>──────────────────────────────&gt;</a:t>
            </a:r>
          </a:p>
          <a:p>
            <a:endParaRPr lang="en-US" dirty="0"/>
          </a:p>
          <a:p>
            <a:r>
              <a:rPr lang="en-US" dirty="0"/>
              <a:t>Rows continuously arrive</a:t>
            </a:r>
          </a:p>
          <a:p>
            <a:endParaRPr lang="en-US" dirty="0"/>
          </a:p>
          <a:p>
            <a:r>
              <a:rPr lang="en-US" dirty="0"/>
              <a:t>Record</a:t>
            </a:r>
          </a:p>
          <a:p>
            <a:r>
              <a:rPr lang="en-US" dirty="0"/>
              <a:t>Record</a:t>
            </a:r>
          </a:p>
          <a:p>
            <a:r>
              <a:rPr lang="en-US" dirty="0"/>
              <a:t>Record</a:t>
            </a:r>
          </a:p>
          <a:p>
            <a:r>
              <a:rPr lang="en-US" dirty="0"/>
              <a:t>Record</a:t>
            </a:r>
          </a:p>
          <a:p>
            <a:r>
              <a:rPr lang="en-US" dirty="0"/>
              <a:t>Record</a:t>
            </a:r>
          </a:p>
          <a:p>
            <a:r>
              <a:rPr lang="en-US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890618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Streaming Transformations</a:t>
            </a:r>
          </a:p>
          <a:p>
            <a:r>
              <a:rPr lang="en-US" sz="2000" dirty="0"/>
              <a:t>After receiving data from the source, transformations are applied.</a:t>
            </a:r>
          </a:p>
          <a:p>
            <a:r>
              <a:rPr lang="en-US" sz="2000" dirty="0"/>
              <a:t>Common transformations include: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Select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Filter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WithColumn</a:t>
            </a:r>
            <a:r>
              <a:rPr lang="en-US" sz="20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Drop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Join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GroupBy</a:t>
            </a:r>
            <a:r>
              <a:rPr lang="en-US" sz="20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Aggregation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Window operations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SQL operations </a:t>
            </a:r>
          </a:p>
          <a:p>
            <a:endParaRPr lang="en-US" sz="2000" b="1" dirty="0"/>
          </a:p>
          <a:p>
            <a:r>
              <a:rPr lang="en-US" sz="2000" b="1" dirty="0"/>
              <a:t>Two important categories</a:t>
            </a:r>
          </a:p>
          <a:p>
            <a:r>
              <a:rPr lang="en-US" sz="2000" b="1" dirty="0"/>
              <a:t>Stateless transformations</a:t>
            </a:r>
            <a:endParaRPr lang="en-US" sz="2000" dirty="0"/>
          </a:p>
          <a:p>
            <a:r>
              <a:rPr lang="en-US" sz="2000" dirty="0"/>
              <a:t>	Do not require information from previously processed records.</a:t>
            </a:r>
          </a:p>
          <a:p>
            <a:r>
              <a:rPr lang="en-US" sz="2000" b="1" dirty="0"/>
              <a:t>Stateful transformations</a:t>
            </a:r>
            <a:endParaRPr lang="en-US" sz="2000" dirty="0"/>
          </a:p>
          <a:p>
            <a:r>
              <a:rPr lang="en-US" sz="2000" dirty="0"/>
              <a:t>	Maintain information about previous records.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7546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What is a Streaming Sink?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b="1" dirty="0"/>
              <a:t>sink</a:t>
            </a:r>
            <a:r>
              <a:rPr lang="en-US" sz="2000" dirty="0"/>
              <a:t> is the destination where processed streaming data is written.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The sink receives the output generated by the streaming query.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Examples of destinations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Console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File system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Kafka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Memory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Database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Custom sink</a:t>
            </a:r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7835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What is Output Mode?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Output mode</a:t>
            </a:r>
            <a:r>
              <a:rPr lang="en-US" sz="2000" dirty="0"/>
              <a:t> determines which records are written to the sink as the result of a streaming query.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Structured Streaming provides three major output modes: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Append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Complete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Update</a:t>
            </a:r>
          </a:p>
          <a:p>
            <a:endParaRPr lang="en-US" sz="2000" b="1" dirty="0"/>
          </a:p>
          <a:p>
            <a:r>
              <a:rPr lang="en-US" sz="2000" b="1" dirty="0"/>
              <a:t>Append Mode</a:t>
            </a:r>
          </a:p>
          <a:p>
            <a:r>
              <a:rPr lang="en-US" sz="2000" dirty="0"/>
              <a:t>In </a:t>
            </a:r>
            <a:r>
              <a:rPr lang="en-US" sz="2000" b="1" dirty="0"/>
              <a:t>Append mode</a:t>
            </a:r>
            <a:r>
              <a:rPr lang="en-US" sz="2000" dirty="0"/>
              <a:t>, only newly added rows are written to the sink.</a:t>
            </a:r>
          </a:p>
          <a:p>
            <a:endParaRPr lang="en-US" sz="2000" b="1" dirty="0"/>
          </a:p>
          <a:p>
            <a:r>
              <a:rPr lang="en-US" sz="2000" b="1" dirty="0"/>
              <a:t>Characteristics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Outputs newly added rows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Previously written rows are not rewritten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Suitable for queries where existing output does not change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Commonly used for append-only processing</a:t>
            </a:r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14650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709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Complete Mode</a:t>
            </a:r>
          </a:p>
          <a:p>
            <a:r>
              <a:rPr lang="en-US" sz="2000" dirty="0"/>
              <a:t>In </a:t>
            </a:r>
            <a:r>
              <a:rPr lang="en-US" sz="2000" b="1" dirty="0"/>
              <a:t>Complete mode</a:t>
            </a:r>
            <a:r>
              <a:rPr lang="en-US" sz="2000" dirty="0"/>
              <a:t>, the entire result table is written to the sink whenever the query produces output.</a:t>
            </a:r>
          </a:p>
          <a:p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Characteristics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Entire result table is output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Mainly associated with aggregations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Requires the sink to support complete output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Can produce significantly more output than append mode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Update Mode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In </a:t>
            </a:r>
            <a:r>
              <a:rPr lang="en-US" sz="2000" b="1" dirty="0"/>
              <a:t>Update mode</a:t>
            </a:r>
            <a:r>
              <a:rPr lang="en-US" sz="2000" dirty="0"/>
              <a:t>, only rows whose values have changed since the previous trigger are written.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Characteristics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Outputs changed records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More efficient than complete mode in many stateful workloads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Useful for continuously changing aggregations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Requires a compatible sink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0404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254C69-B498-8640-7FD4-54EE05EEB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962459"/>
              </p:ext>
            </p:extLst>
          </p:nvPr>
        </p:nvGraphicFramePr>
        <p:xfrm>
          <a:off x="594360" y="868680"/>
          <a:ext cx="10139902" cy="2560320"/>
        </p:xfrm>
        <a:graphic>
          <a:graphicData uri="http://schemas.openxmlformats.org/drawingml/2006/table">
            <a:tbl>
              <a:tblPr/>
              <a:tblGrid>
                <a:gridCol w="2541334">
                  <a:extLst>
                    <a:ext uri="{9D8B030D-6E8A-4147-A177-3AD203B41FA5}">
                      <a16:colId xmlns:a16="http://schemas.microsoft.com/office/drawing/2014/main" val="457263385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1405664547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291465461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448627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4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New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88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Changed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753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Entire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19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Suitable for aggregations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Sometimes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05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Output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8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State dependency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Often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04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492A5B-DEE9-1EB0-F072-46624CDF482A}"/>
              </a:ext>
            </a:extLst>
          </p:cNvPr>
          <p:cNvSpPr txBox="1"/>
          <p:nvPr/>
        </p:nvSpPr>
        <p:spPr>
          <a:xfrm>
            <a:off x="594360" y="287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Append vs Update vs Complete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25808-3339-2EB5-ADC7-77B07F0DCAF7}"/>
              </a:ext>
            </a:extLst>
          </p:cNvPr>
          <p:cNvSpPr txBox="1"/>
          <p:nvPr/>
        </p:nvSpPr>
        <p:spPr>
          <a:xfrm>
            <a:off x="629920" y="371275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Easy way to remember</a:t>
            </a:r>
          </a:p>
          <a:p>
            <a:pPr lvl="1"/>
            <a:r>
              <a:rPr lang="en-US" b="1" dirty="0"/>
              <a:t>Append → New records</a:t>
            </a:r>
            <a:endParaRPr lang="en-US" dirty="0"/>
          </a:p>
          <a:p>
            <a:pPr lvl="1"/>
            <a:r>
              <a:rPr lang="en-US" b="1" dirty="0"/>
              <a:t>Update → Changed records</a:t>
            </a:r>
            <a:endParaRPr lang="en-US" dirty="0"/>
          </a:p>
          <a:p>
            <a:pPr lvl="1"/>
            <a:r>
              <a:rPr lang="en-US" b="1" dirty="0"/>
              <a:t>Complete → Everything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83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 Trigger?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b="1" dirty="0"/>
              <a:t>trigger</a:t>
            </a:r>
            <a:r>
              <a:rPr lang="en-US" sz="2000" dirty="0"/>
              <a:t> determines when Spark should execute a streaming query and process available data.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It controls the </a:t>
            </a:r>
            <a:r>
              <a:rPr lang="en-US" sz="2000" b="1" dirty="0"/>
              <a:t>frequency or timing of streaming computation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Trigger Types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Important Structured Streaming trigger types include:</a:t>
            </a:r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Default trigger </a:t>
            </a:r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Processing-time trigger </a:t>
            </a:r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Available-now trigger </a:t>
            </a:r>
          </a:p>
          <a:p>
            <a:pPr lvl="1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Continuous trigger </a:t>
            </a:r>
          </a:p>
          <a:p>
            <a:pPr lvl="2"/>
            <a:endParaRPr lang="en-US" sz="2000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3743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Default Trigger</a:t>
            </a:r>
          </a:p>
          <a:p>
            <a:r>
              <a:rPr lang="en-US" sz="2000" dirty="0"/>
              <a:t>With the default trigger, Spark processes available data as soon as possible.</a:t>
            </a:r>
          </a:p>
          <a:p>
            <a:endParaRPr lang="en-US" sz="2000" b="1" dirty="0"/>
          </a:p>
          <a:p>
            <a:r>
              <a:rPr lang="en-US" sz="2000" b="1" dirty="0"/>
              <a:t>Processing-Time Trigger</a:t>
            </a:r>
          </a:p>
          <a:p>
            <a:r>
              <a:rPr lang="en-US" sz="2000" dirty="0"/>
              <a:t>Processing-time triggers schedule execution at a specified interval.</a:t>
            </a:r>
          </a:p>
          <a:p>
            <a:endParaRPr lang="en-US" sz="2000" dirty="0"/>
          </a:p>
          <a:p>
            <a:r>
              <a:rPr lang="en-US" sz="2000" b="1" dirty="0"/>
              <a:t>Available-Now Trigger</a:t>
            </a:r>
          </a:p>
          <a:p>
            <a:r>
              <a:rPr lang="en-US" sz="2000" dirty="0"/>
              <a:t>The available-now trigger processes all data that is available when the query starts and then terminates after processing the available data.</a:t>
            </a:r>
          </a:p>
          <a:p>
            <a:endParaRPr lang="en-US" sz="2000" dirty="0"/>
          </a:p>
          <a:p>
            <a:r>
              <a:rPr lang="en-US" sz="2000" b="1" dirty="0"/>
              <a:t>Continuous Trigger</a:t>
            </a:r>
          </a:p>
          <a:p>
            <a:r>
              <a:rPr lang="en-US" sz="2000" dirty="0"/>
              <a:t>Continuous processing is designed for very low-latency processing.</a:t>
            </a:r>
          </a:p>
          <a:p>
            <a:endParaRPr lang="en-US" sz="2000" dirty="0"/>
          </a:p>
          <a:p>
            <a:pPr lvl="2"/>
            <a:endParaRPr lang="en-US" sz="2000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7828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What is Windowing?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Windowing</a:t>
            </a:r>
            <a:r>
              <a:rPr lang="en-US" sz="2000" dirty="0"/>
              <a:t> divides a continuous stream into finite time intervals so that data can be processed or aggregated based on time.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Because streaming data is unbounded, aggregating the entire stream indefinitely is generally not practical.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Windowing provides a bounded time-based view of streaming data.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Windowing helps answer questions such as: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What happened during a particular time period?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How many events occurred within a time interval?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What was the aggregate value during a period? </a:t>
            </a:r>
          </a:p>
          <a:p>
            <a:endParaRPr lang="en-US" sz="2000" b="1" dirty="0"/>
          </a:p>
          <a:p>
            <a:r>
              <a:rPr lang="en-US" sz="2000" b="1" dirty="0"/>
              <a:t>Types of Windows</a:t>
            </a:r>
          </a:p>
          <a:p>
            <a:r>
              <a:rPr lang="en-US" sz="2000" dirty="0"/>
              <a:t>Important time-based windows in Structured Streaming include: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Tumbling window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Sliding window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Session window </a:t>
            </a:r>
          </a:p>
          <a:p>
            <a:endParaRPr lang="en-US" sz="2000" dirty="0"/>
          </a:p>
          <a:p>
            <a:pPr lvl="2"/>
            <a:endParaRPr lang="en-US" sz="2000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3417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Tumbling Window</a:t>
            </a:r>
          </a:p>
          <a:p>
            <a:r>
              <a:rPr lang="en-US" sz="2000" dirty="0"/>
              <a:t>A </a:t>
            </a:r>
            <a:r>
              <a:rPr lang="en-US" sz="2000" b="1" dirty="0"/>
              <a:t>tumbling window</a:t>
            </a:r>
            <a:r>
              <a:rPr lang="en-US" sz="2000" dirty="0"/>
              <a:t> consists of fixed-size, non-overlapping time intervals.</a:t>
            </a:r>
          </a:p>
          <a:p>
            <a:endParaRPr lang="en-US" sz="2000" b="1" dirty="0"/>
          </a:p>
          <a:p>
            <a:r>
              <a:rPr lang="en-US" sz="2000" b="1" dirty="0"/>
              <a:t>Characteristics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Fixed duration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Non-overlapping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Every event belongs to one window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Windows are independent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No overlap between consecutive windows</a:t>
            </a:r>
          </a:p>
          <a:p>
            <a:endParaRPr lang="en-US" sz="2000" dirty="0"/>
          </a:p>
          <a:p>
            <a:pPr lvl="2"/>
            <a:endParaRPr lang="en-US" sz="2000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C7285-9E04-D91E-7F9C-BD8508BA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95" y="3677898"/>
            <a:ext cx="6216970" cy="8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80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b="1" dirty="0"/>
              <a:t>sliding window</a:t>
            </a:r>
            <a:r>
              <a:rPr lang="en-US" sz="2000" dirty="0"/>
              <a:t> consists of time intervals that can overlap.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It is defined using: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Window duration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Slide duration 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Characteristics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Fixed window size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Windows can overlap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An event may belong to multiple windows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Provides more frequent aggregation results</a:t>
            </a:r>
          </a:p>
          <a:p>
            <a:endParaRPr lang="en-US" sz="2000" dirty="0"/>
          </a:p>
          <a:p>
            <a:pPr lvl="2"/>
            <a:endParaRPr lang="en-US" sz="2000" dirty="0"/>
          </a:p>
          <a:p>
            <a:pPr marL="1371600" lvl="2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ts val="600"/>
              </a:spcBef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355AE-1C1C-0A6D-DBF8-6ECF37D7A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28" y="4375143"/>
            <a:ext cx="4159464" cy="91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66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Tumbling vs Sliding Window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83575A-CE55-7A3D-5B74-7A168A3B2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36309"/>
              </p:ext>
            </p:extLst>
          </p:nvPr>
        </p:nvGraphicFramePr>
        <p:xfrm>
          <a:off x="381000" y="1040289"/>
          <a:ext cx="10131424" cy="21945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18465032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6038641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Tumbling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Sliding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4023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Non-overlapping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Overlapping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2412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One event belongs to one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Event can belong to multiple 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60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Fixed window 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Window duration + slide 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2637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Less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Potentially more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32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Simpler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More computationally expensive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6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241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Session Window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b="1" dirty="0"/>
              <a:t>session window</a:t>
            </a:r>
            <a:r>
              <a:rPr lang="en-US" sz="2000" dirty="0"/>
              <a:t> groups events based on periods of activity separated by inactivity.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Characteristics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Dynamic window size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Based on user/event activity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Windows can have different lengths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Inactivity determines session boundaries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Useful for activity/session-based analysis</a:t>
            </a:r>
          </a:p>
        </p:txBody>
      </p:sp>
    </p:spTree>
    <p:extLst>
      <p:ext uri="{BB962C8B-B14F-4D97-AF65-F5344CB8AC3E}">
        <p14:creationId xmlns:p14="http://schemas.microsoft.com/office/powerpoint/2010/main" val="3870209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Late-Arriving Data</a:t>
            </a:r>
          </a:p>
          <a:p>
            <a:r>
              <a:rPr lang="en-US" sz="2000" dirty="0"/>
              <a:t>In streaming systems, events may not arrive in the same order in which they occurred.</a:t>
            </a:r>
          </a:p>
          <a:p>
            <a:r>
              <a:rPr lang="en-US" sz="2000" dirty="0"/>
              <a:t>An event can arrive after the system has already processed newer events.</a:t>
            </a:r>
          </a:p>
          <a:p>
            <a:endParaRPr lang="en-US" sz="2000" dirty="0"/>
          </a:p>
          <a:p>
            <a:r>
              <a:rPr lang="en-US" sz="2000" dirty="0"/>
              <a:t>Reasons include: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Network delays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Application delays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Device connectivity problems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Message broker delays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Processing delays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System failures </a:t>
            </a:r>
          </a:p>
          <a:p>
            <a:r>
              <a:rPr lang="en-US" sz="2000" dirty="0"/>
              <a:t>This is called </a:t>
            </a:r>
            <a:r>
              <a:rPr lang="en-US" sz="2000" b="1" dirty="0"/>
              <a:t>late-arriving data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6654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CBB09B-7069-DD81-2593-6869876BF734}"/>
              </a:ext>
            </a:extLst>
          </p:cNvPr>
          <p:cNvSpPr txBox="1"/>
          <p:nvPr/>
        </p:nvSpPr>
        <p:spPr>
          <a:xfrm>
            <a:off x="487680" y="426720"/>
            <a:ext cx="1191768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/>
              <a:t>Watermark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A </a:t>
            </a:r>
            <a:r>
              <a:rPr lang="en-US" sz="2000" b="1" dirty="0"/>
              <a:t>watermark</a:t>
            </a:r>
            <a:r>
              <a:rPr lang="en-US" sz="2000" dirty="0"/>
              <a:t> is a mechanism used by Structured Streaming to handle late-arriving data and control the amount of state maintained for stateful operations.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It defines how long Spark should wait for late data based on event time.</a:t>
            </a:r>
          </a:p>
          <a:p>
            <a:pPr>
              <a:spcBef>
                <a:spcPts val="600"/>
              </a:spcBef>
            </a:pPr>
            <a:endParaRPr lang="en-US" sz="2000" b="1" dirty="0"/>
          </a:p>
          <a:p>
            <a:pPr>
              <a:spcBef>
                <a:spcPts val="600"/>
              </a:spcBef>
            </a:pPr>
            <a:r>
              <a:rPr lang="en-US" sz="2000" b="1" dirty="0"/>
              <a:t>Main purposes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Handle late data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Limit state growth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Remove old state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Control memory usage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Support event-time aggregations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Help determine when old windows can be finalized</a:t>
            </a:r>
          </a:p>
        </p:txBody>
      </p:sp>
    </p:spTree>
    <p:extLst>
      <p:ext uri="{BB962C8B-B14F-4D97-AF65-F5344CB8AC3E}">
        <p14:creationId xmlns:p14="http://schemas.microsoft.com/office/powerpoint/2010/main" val="322305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980515A22CDD408FE9EBE116E9983C" ma:contentTypeVersion="9" ma:contentTypeDescription="Create a new document." ma:contentTypeScope="" ma:versionID="fef6b42fe8d6b0641348ef810e317958">
  <xsd:schema xmlns:xsd="http://www.w3.org/2001/XMLSchema" xmlns:xs="http://www.w3.org/2001/XMLSchema" xmlns:p="http://schemas.microsoft.com/office/2006/metadata/properties" xmlns:ns3="fc761dc4-4f92-45cb-b6ee-171f6686e627" targetNamespace="http://schemas.microsoft.com/office/2006/metadata/properties" ma:root="true" ma:fieldsID="3accf8b731f7e0fe47dc07493b316214" ns3:_="">
    <xsd:import namespace="fc761dc4-4f92-45cb-b6ee-171f6686e62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61dc4-4f92-45cb-b6ee-171f6686e62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761dc4-4f92-45cb-b6ee-171f6686e627" xsi:nil="true"/>
  </documentManagement>
</p:properties>
</file>

<file path=customXml/itemProps1.xml><?xml version="1.0" encoding="utf-8"?>
<ds:datastoreItem xmlns:ds="http://schemas.openxmlformats.org/officeDocument/2006/customXml" ds:itemID="{246CBEB9-42FE-494B-81C1-F35B16EAC0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BAD9FA-E594-43B8-9A6F-F4A4C8EAF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761dc4-4f92-45cb-b6ee-171f6686e6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7CC5E0-5F14-45B5-BC1E-3FAD73B9B161}">
  <ds:schemaRefs>
    <ds:schemaRef ds:uri="http://schemas.microsoft.com/office/infopath/2007/PartnerControls"/>
    <ds:schemaRef ds:uri="fc761dc4-4f92-45cb-b6ee-171f6686e627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{37566607-ECF4-455D-ABB7-F46C11163BCC}TFb5ae2469-0bae-4978-b0e0-39dd046150ff9a115ede-a9c3cc5252b0</Template>
  <TotalTime>481</TotalTime>
  <Words>1213</Words>
  <Application>Microsoft Office PowerPoint</Application>
  <PresentationFormat>Widescreen</PresentationFormat>
  <Paragraphs>327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Celestial</vt:lpstr>
      <vt:lpstr>STRECTURE STREAMING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Babjee P</dc:creator>
  <cp:lastModifiedBy>Babjee P</cp:lastModifiedBy>
  <cp:revision>1</cp:revision>
  <dcterms:created xsi:type="dcterms:W3CDTF">2026-08-21T03:48:48Z</dcterms:created>
  <dcterms:modified xsi:type="dcterms:W3CDTF">2026-08-21T11:50:50Z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0x010100A5980515A22CDD408FE9EBE116E9983C</vt:lpwstr>
  </property>
</Properties>
</file>