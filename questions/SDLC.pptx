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0" r:id="rId3"/>
    <p:sldMasterId id="2147483672" r:id="rId4"/>
  </p:sldMasterIdLst>
  <p:notesMasterIdLst>
    <p:notesMasterId r:id="rId13"/>
  </p:notesMasterIdLst>
  <p:sldIdLst>
    <p:sldId id="319" r:id="rId5"/>
    <p:sldId id="320" r:id="rId6"/>
    <p:sldId id="321" r:id="rId7"/>
    <p:sldId id="323" r:id="rId8"/>
    <p:sldId id="324" r:id="rId9"/>
    <p:sldId id="325" r:id="rId10"/>
    <p:sldId id="326" r:id="rId11"/>
    <p:sldId id="368" r:id="rId12"/>
    <p:sldId id="369" r:id="rId14"/>
    <p:sldId id="370" r:id="rId15"/>
    <p:sldId id="372" r:id="rId16"/>
    <p:sldId id="373" r:id="rId17"/>
    <p:sldId id="374" r:id="rId18"/>
    <p:sldId id="375" r:id="rId19"/>
    <p:sldId id="376" r:id="rId20"/>
    <p:sldId id="377" r:id="rId21"/>
    <p:sldId id="378" r:id="rId22"/>
    <p:sldId id="379" r:id="rId23"/>
    <p:sldId id="380" r:id="rId24"/>
    <p:sldId id="371" r:id="rId25"/>
    <p:sldId id="397" r:id="rId26"/>
    <p:sldId id="398" r:id="rId27"/>
    <p:sldId id="399" r:id="rId28"/>
    <p:sldId id="400" r:id="rId29"/>
    <p:sldId id="381" r:id="rId30"/>
    <p:sldId id="382" r:id="rId31"/>
    <p:sldId id="383" r:id="rId32"/>
    <p:sldId id="384" r:id="rId33"/>
    <p:sldId id="385" r:id="rId34"/>
    <p:sldId id="386" r:id="rId35"/>
    <p:sldId id="387" r:id="rId36"/>
    <p:sldId id="388" r:id="rId37"/>
    <p:sldId id="392" r:id="rId38"/>
    <p:sldId id="401" r:id="rId39"/>
    <p:sldId id="402" r:id="rId40"/>
    <p:sldId id="403" r:id="rId41"/>
    <p:sldId id="394" r:id="rId42"/>
    <p:sldId id="389" r:id="rId43"/>
    <p:sldId id="390" r:id="rId44"/>
    <p:sldId id="391" r:id="rId45"/>
    <p:sldId id="395" r:id="rId46"/>
    <p:sldId id="396" r:id="rId47"/>
  </p:sldIdLst>
  <p:sldSz cx="9144000" cy="6858000" type="screen4x3"/>
  <p:notesSz cx="6858000" cy="9144000"/>
  <p:defaultTextStyle>
    <a:defPPr>
      <a:defRPr lang="en-US"/>
    </a:defPPr>
    <a:lvl1pPr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147" autoAdjust="0"/>
    <p:restoredTop sz="94660" autoAdjust="0"/>
  </p:normalViewPr>
  <p:slideViewPr>
    <p:cSldViewPr showGuides="1">
      <p:cViewPr>
        <p:scale>
          <a:sx n="66" d="100"/>
          <a:sy n="66" d="100"/>
        </p:scale>
        <p:origin x="-642" y="-258"/>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0" Type="http://schemas.openxmlformats.org/officeDocument/2006/relationships/tableStyles" Target="tableStyles.xml"/><Relationship Id="rId5" Type="http://schemas.openxmlformats.org/officeDocument/2006/relationships/slide" Target="slides/slide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notesMaster" Target="notesMasters/notesMaster1.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Rectangle 1"/>
          <p:cNvSpPr>
            <a:spLocks noGrp="1" noRot="1" noChangeAspect="1" noChangeArrowheads="1"/>
          </p:cNvSpPr>
          <p:nvPr>
            <p:ph type="sldImg"/>
          </p:nvPr>
        </p:nvSpPr>
        <p:spPr bwMode="auto">
          <a:xfrm>
            <a:off x="1371600" y="763588"/>
            <a:ext cx="5027613" cy="377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6146" name="Rectangle 2"/>
          <p:cNvSpPr>
            <a:spLocks noGrp="1" noChangeArrowheads="1"/>
          </p:cNvSpPr>
          <p:nvPr>
            <p:ph type="body"/>
          </p:nvPr>
        </p:nvSpPr>
        <p:spPr bwMode="auto">
          <a:xfrm>
            <a:off x="777875" y="4776788"/>
            <a:ext cx="6216650"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p>
            <a:pPr lvl="0"/>
            <a:endParaRPr lang="en-US" smtClean="0"/>
          </a:p>
        </p:txBody>
      </p:sp>
      <p:sp>
        <p:nvSpPr>
          <p:cNvPr id="6147" name="Rectangle 3"/>
          <p:cNvSpPr>
            <a:spLocks noGrp="1" noChangeArrowheads="1"/>
          </p:cNvSpPr>
          <p:nvPr>
            <p:ph type="hdr"/>
          </p:nvPr>
        </p:nvSpPr>
        <p:spPr bwMode="auto">
          <a:xfrm>
            <a:off x="0" y="0"/>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nSpc>
                <a:spcPct val="95000"/>
              </a:lnSpc>
              <a:tabLst>
                <a:tab pos="723900" algn="l"/>
                <a:tab pos="1447800" algn="l"/>
                <a:tab pos="2171700" algn="l"/>
                <a:tab pos="2895600" algn="l"/>
              </a:tabLst>
              <a:defRPr sz="1400">
                <a:solidFill>
                  <a:srgbClr val="000000"/>
                </a:solidFill>
                <a:latin typeface="Times New Roman" panose="02020603050405020304" pitchFamily="18" charset="0"/>
                <a:cs typeface="Arial Unicode MS" panose="020B0604020202020204" pitchFamily="34" charset="-128"/>
              </a:defRPr>
            </a:lvl1pPr>
          </a:lstStyle>
          <a:p>
            <a:endParaRPr lang="en-US"/>
          </a:p>
        </p:txBody>
      </p:sp>
      <p:sp>
        <p:nvSpPr>
          <p:cNvPr id="6148" name="Rectangle 4"/>
          <p:cNvSpPr>
            <a:spLocks noGrp="1" noChangeArrowheads="1"/>
          </p:cNvSpPr>
          <p:nvPr>
            <p:ph type="dt"/>
          </p:nvPr>
        </p:nvSpPr>
        <p:spPr bwMode="auto">
          <a:xfrm>
            <a:off x="4398963" y="0"/>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lstStyle>
            <a:lvl1pPr algn="r">
              <a:lnSpc>
                <a:spcPct val="95000"/>
              </a:lnSpc>
              <a:tabLst>
                <a:tab pos="723900" algn="l"/>
                <a:tab pos="1447800" algn="l"/>
                <a:tab pos="2171700" algn="l"/>
                <a:tab pos="2895600" algn="l"/>
              </a:tabLst>
              <a:defRPr sz="1400">
                <a:solidFill>
                  <a:srgbClr val="000000"/>
                </a:solidFill>
                <a:latin typeface="Times New Roman" panose="02020603050405020304" pitchFamily="18" charset="0"/>
                <a:cs typeface="Arial Unicode MS" panose="020B0604020202020204" pitchFamily="34" charset="-128"/>
              </a:defRPr>
            </a:lvl1pPr>
          </a:lstStyle>
          <a:p>
            <a:endParaRPr lang="en-US"/>
          </a:p>
        </p:txBody>
      </p:sp>
      <p:sp>
        <p:nvSpPr>
          <p:cNvPr id="6149" name="Rectangle 5"/>
          <p:cNvSpPr>
            <a:spLocks noGrp="1" noChangeArrowheads="1"/>
          </p:cNvSpPr>
          <p:nvPr>
            <p:ph type="ftr"/>
          </p:nvPr>
        </p:nvSpPr>
        <p:spPr bwMode="auto">
          <a:xfrm>
            <a:off x="0" y="9555163"/>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lstStyle>
            <a:lvl1pPr>
              <a:lnSpc>
                <a:spcPct val="95000"/>
              </a:lnSpc>
              <a:tabLst>
                <a:tab pos="723900" algn="l"/>
                <a:tab pos="1447800" algn="l"/>
                <a:tab pos="2171700" algn="l"/>
                <a:tab pos="2895600" algn="l"/>
              </a:tabLst>
              <a:defRPr sz="1400">
                <a:solidFill>
                  <a:srgbClr val="000000"/>
                </a:solidFill>
                <a:latin typeface="Times New Roman" panose="02020603050405020304" pitchFamily="18" charset="0"/>
                <a:cs typeface="Arial Unicode MS" panose="020B0604020202020204" pitchFamily="34" charset="-128"/>
              </a:defRPr>
            </a:lvl1pPr>
          </a:lstStyle>
          <a:p>
            <a:endParaRPr lang="en-US"/>
          </a:p>
        </p:txBody>
      </p:sp>
      <p:sp>
        <p:nvSpPr>
          <p:cNvPr id="6150" name="Rectangle 6"/>
          <p:cNvSpPr>
            <a:spLocks noGrp="1" noChangeArrowheads="1"/>
          </p:cNvSpPr>
          <p:nvPr>
            <p:ph type="sldNum"/>
          </p:nvPr>
        </p:nvSpPr>
        <p:spPr bwMode="auto">
          <a:xfrm>
            <a:off x="4398963" y="9555163"/>
            <a:ext cx="33718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lstStyle>
            <a:lvl1pPr algn="r">
              <a:lnSpc>
                <a:spcPct val="95000"/>
              </a:lnSpc>
              <a:tabLst>
                <a:tab pos="723900" algn="l"/>
                <a:tab pos="1447800" algn="l"/>
                <a:tab pos="2171700" algn="l"/>
                <a:tab pos="2895600" algn="l"/>
              </a:tabLst>
              <a:defRPr sz="1400">
                <a:solidFill>
                  <a:srgbClr val="000000"/>
                </a:solidFill>
                <a:latin typeface="Times New Roman" panose="02020603050405020304" pitchFamily="18" charset="0"/>
                <a:cs typeface="Arial Unicode MS" panose="020B0604020202020204" pitchFamily="34" charset="-128"/>
              </a:defRPr>
            </a:lvl1pPr>
          </a:lstStyle>
          <a:p>
            <a:fld id="{5E00B012-8F1D-4AE3-AF93-499EE5FCAF85}" type="slidenum">
              <a:rPr lang="en-US"/>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Text Placeholder 2"/>
          <p:cNvSpPr>
            <a:spLocks noGrp="1"/>
          </p:cNvSpPr>
          <p:nvPr>
            <p:ph type="body"/>
          </p:nvPr>
        </p:nvSpPr>
        <p:spPr/>
        <p:txBody>
          <a:bodyPr/>
          <a:p>
            <a:r>
              <a:rPr lang="en-US" altLang="en-GB">
                <a:sym typeface="+mn-ea"/>
              </a:rPr>
              <a:t>Time-boxed</a:t>
            </a:r>
            <a:endParaRPr lang="en-US" altLang="en-GB"/>
          </a:p>
          <a:p>
            <a:endParaRPr lang="en-US" altLang="en-GB"/>
          </a:p>
          <a:p>
            <a:r>
              <a:rPr lang="en-US" altLang="en-GB">
                <a:sym typeface="+mn-ea"/>
              </a:rPr>
              <a:t>Time-boxed means every development cycle has a fixed duration.</a:t>
            </a:r>
            <a:endParaRPr lang="en-US" altLang="en-GB"/>
          </a:p>
          <a:p>
            <a:r>
              <a:rPr lang="en-US" altLang="en-GB">
                <a:sym typeface="+mn-ea"/>
              </a:rPr>
              <a:t>Example:</a:t>
            </a:r>
            <a:endParaRPr lang="en-US" altLang="en-GB"/>
          </a:p>
          <a:p>
            <a:r>
              <a:rPr lang="en-US" altLang="en-GB">
                <a:sym typeface="+mn-ea"/>
              </a:rPr>
              <a:t>Sprint 1 </a:t>
            </a:r>
            <a:r>
              <a:rPr lang="en-US" altLang="en-US">
                <a:sym typeface="+mn-ea"/>
              </a:rPr>
              <a:t>→</a:t>
            </a:r>
            <a:r>
              <a:rPr lang="en-US" altLang="en-GB">
                <a:sym typeface="+mn-ea"/>
              </a:rPr>
              <a:t> 2 weeks    Sprint 2 </a:t>
            </a:r>
            <a:r>
              <a:rPr lang="en-US" altLang="en-US">
                <a:sym typeface="+mn-ea"/>
              </a:rPr>
              <a:t>→</a:t>
            </a:r>
            <a:r>
              <a:rPr lang="en-US" altLang="en-GB">
                <a:sym typeface="+mn-ea"/>
              </a:rPr>
              <a:t> 2 weeks Sprint 3 </a:t>
            </a:r>
            <a:r>
              <a:rPr lang="en-US" altLang="en-US">
                <a:sym typeface="+mn-ea"/>
              </a:rPr>
              <a:t>→</a:t>
            </a:r>
            <a:r>
              <a:rPr lang="en-US" altLang="en-GB">
                <a:sym typeface="+mn-ea"/>
              </a:rPr>
              <a:t> 2 weeks </a:t>
            </a:r>
            <a:endParaRPr lang="en-US" altLang="en-GB"/>
          </a:p>
          <a:p>
            <a:endParaRPr lang="en-US" altLang="en-GB"/>
          </a:p>
          <a:p>
            <a:r>
              <a:rPr lang="en-US" altLang="en-GB">
                <a:sym typeface="+mn-ea"/>
              </a:rPr>
              <a:t>Iterative means repeating the same cycle again and again. The team continuously goes through:</a:t>
            </a:r>
            <a:endParaRPr lang="en-US" altLang="en-GB"/>
          </a:p>
          <a:p>
            <a:endParaRPr lang="en-US" altLang="en-GB"/>
          </a:p>
          <a:p>
            <a:r>
              <a:rPr lang="en-US" altLang="en-GB">
                <a:sym typeface="+mn-ea"/>
              </a:rPr>
              <a:t>Incremental Delivery</a:t>
            </a:r>
            <a:endParaRPr lang="en-US" altLang="en-GB"/>
          </a:p>
          <a:p>
            <a:endParaRPr lang="en-US" altLang="en-GB"/>
          </a:p>
          <a:p>
            <a:r>
              <a:rPr lang="en-US" altLang="en-GB">
                <a:sym typeface="+mn-ea"/>
              </a:rPr>
              <a:t>Software</a:t>
            </a:r>
            <a:endParaRPr lang="en-US" altLang="en-GB"/>
          </a:p>
          <a:p>
            <a:endParaRPr lang="en-US" altLang="en-GB"/>
          </a:p>
          <a:p>
            <a:r>
              <a:rPr lang="en-US" altLang="en-US">
                <a:sym typeface="+mn-ea"/>
              </a:rPr>
              <a:t>↓</a:t>
            </a:r>
            <a:endParaRPr lang="en-US" altLang="en-US"/>
          </a:p>
          <a:p>
            <a:endParaRPr lang="en-US" altLang="en-GB"/>
          </a:p>
          <a:p>
            <a:r>
              <a:rPr lang="en-US" altLang="en-GB">
                <a:sym typeface="+mn-ea"/>
              </a:rPr>
              <a:t>Functionality 1</a:t>
            </a:r>
            <a:endParaRPr lang="en-US" altLang="en-GB"/>
          </a:p>
          <a:p>
            <a:endParaRPr lang="en-US" altLang="en-GB"/>
          </a:p>
          <a:p>
            <a:r>
              <a:rPr lang="en-US" altLang="en-GB">
                <a:sym typeface="+mn-ea"/>
              </a:rPr>
              <a:t>Functionality 2</a:t>
            </a:r>
            <a:endParaRPr lang="en-US" altLang="en-GB"/>
          </a:p>
          <a:p>
            <a:endParaRPr lang="en-US" altLang="en-GB"/>
          </a:p>
          <a:p>
            <a:r>
              <a:rPr lang="en-US" altLang="en-GB">
                <a:sym typeface="+mn-ea"/>
              </a:rPr>
              <a:t>Functionality 3</a:t>
            </a:r>
            <a:endParaRPr lang="en-US" altLang="en-GB"/>
          </a:p>
          <a:p>
            <a:endParaRPr lang="en-US" altLang="en-GB"/>
          </a:p>
          <a:p>
            <a:r>
              <a:rPr lang="en-US" altLang="en-GB">
                <a:sym typeface="+mn-ea"/>
              </a:rPr>
              <a:t>Instead of waiting until everything is completed, Agile delivers the software feature by feature.</a:t>
            </a:r>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4963"/>
            <a:ext cx="4037013" cy="45243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6613" y="1604963"/>
            <a:ext cx="4038600" cy="45243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4963"/>
            <a:ext cx="4037013" cy="45243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6613" y="1604963"/>
            <a:ext cx="4038600" cy="45243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6988"/>
            <a:ext cx="2055813" cy="61023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6988"/>
            <a:ext cx="6019800" cy="61023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4963"/>
            <a:ext cx="4037013" cy="45243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6613" y="1604963"/>
            <a:ext cx="4038600" cy="45243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6988"/>
            <a:ext cx="2055813" cy="61023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6988"/>
            <a:ext cx="6019800" cy="61023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ChangeArrowheads="1"/>
          </p:cNvSpPr>
          <p:nvPr/>
        </p:nvSpPr>
        <p:spPr bwMode="auto">
          <a:xfrm>
            <a:off x="1588" y="6477000"/>
            <a:ext cx="9142412" cy="381000"/>
          </a:xfrm>
          <a:prstGeom prst="rect">
            <a:avLst/>
          </a:prstGeom>
          <a:solidFill>
            <a:srgbClr val="F79646"/>
          </a:solidFill>
          <a:ln w="25560" cap="flat">
            <a:solidFill>
              <a:srgbClr val="F79646"/>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9pPr>
          </a:lstStyle>
          <a:p>
            <a:pPr algn="r" hangingPunct="1">
              <a:lnSpc>
                <a:spcPct val="100000"/>
              </a:lnSpc>
            </a:pPr>
            <a:endParaRPr lang="en-US">
              <a:solidFill>
                <a:srgbClr val="FFFFFF"/>
              </a:solidFill>
              <a:latin typeface="Calibri" panose="020F0502020204030204" pitchFamily="34" charset="0"/>
            </a:endParaRPr>
          </a:p>
          <a:p>
            <a:pPr algn="r" hangingPunct="1">
              <a:lnSpc>
                <a:spcPct val="100000"/>
              </a:lnSpc>
            </a:pPr>
            <a:endParaRPr lang="en-US">
              <a:solidFill>
                <a:srgbClr val="FFFFFF"/>
              </a:solidFill>
              <a:latin typeface="Calibri" panose="020F0502020204030204" pitchFamily="34" charset="0"/>
            </a:endParaRPr>
          </a:p>
        </p:txBody>
      </p:sp>
      <p:sp>
        <p:nvSpPr>
          <p:cNvPr id="2050" name="Rectangle 2"/>
          <p:cNvSpPr>
            <a:spLocks noChangeArrowheads="1"/>
          </p:cNvSpPr>
          <p:nvPr/>
        </p:nvSpPr>
        <p:spPr bwMode="auto">
          <a:xfrm>
            <a:off x="142875" y="6500813"/>
            <a:ext cx="3868738" cy="285750"/>
          </a:xfrm>
          <a:prstGeom prst="rect">
            <a:avLst/>
          </a:prstGeom>
          <a:solidFill>
            <a:srgbClr val="F79646"/>
          </a:solidFill>
          <a:ln w="25560" cap="flat">
            <a:solidFill>
              <a:srgbClr val="F79646"/>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9pPr>
          </a:lstStyle>
          <a:p>
            <a:pPr hangingPunct="1">
              <a:lnSpc>
                <a:spcPct val="100000"/>
              </a:lnSpc>
            </a:pPr>
            <a:r>
              <a:rPr lang="en-US" dirty="0" smtClean="0">
                <a:solidFill>
                  <a:srgbClr val="FFFFFF"/>
                </a:solidFill>
                <a:latin typeface="Calibri" panose="020F0502020204030204" pitchFamily="34" charset="0"/>
              </a:rPr>
              <a:t>Bi-Gems Technologies</a:t>
            </a:r>
            <a:endParaRPr lang="en-US" dirty="0">
              <a:solidFill>
                <a:srgbClr val="FFFFFF"/>
              </a:solidFill>
              <a:latin typeface="Calibri" panose="020F0502020204030204" pitchFamily="34" charset="0"/>
            </a:endParaRPr>
          </a:p>
        </p:txBody>
      </p:sp>
      <p:sp>
        <p:nvSpPr>
          <p:cNvPr id="2052" name="Rectangle 4"/>
          <p:cNvSpPr>
            <a:spLocks noGrp="1" noChangeArrowheads="1"/>
          </p:cNvSpPr>
          <p:nvPr>
            <p:ph type="title"/>
          </p:nvPr>
        </p:nvSpPr>
        <p:spPr bwMode="auto">
          <a:xfrm>
            <a:off x="500063" y="26988"/>
            <a:ext cx="54991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5000" rIns="90000" bIns="45000" numCol="1" anchor="t" anchorCtr="0" compatLnSpc="1"/>
          <a:lstStyle/>
          <a:p>
            <a:pPr lvl="0"/>
            <a:r>
              <a:rPr lang="en-US" smtClean="0"/>
              <a:t>Click to edit the title text formatClick to edit Master title style</a:t>
            </a:r>
            <a:endParaRPr lang="en-US" smtClean="0"/>
          </a:p>
        </p:txBody>
      </p:sp>
      <p:sp>
        <p:nvSpPr>
          <p:cNvPr id="2054" name="Line 6"/>
          <p:cNvSpPr>
            <a:spLocks noChangeShapeType="1"/>
          </p:cNvSpPr>
          <p:nvPr/>
        </p:nvSpPr>
        <p:spPr bwMode="auto">
          <a:xfrm>
            <a:off x="446088" y="1074738"/>
            <a:ext cx="6072187" cy="1587"/>
          </a:xfrm>
          <a:prstGeom prst="line">
            <a:avLst/>
          </a:prstGeom>
          <a:noFill/>
          <a:ln w="9360" cap="flat">
            <a:solidFill>
              <a:srgbClr val="4A7EBB"/>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56" name="Rectangle 8"/>
          <p:cNvSpPr>
            <a:spLocks noGrp="1" noChangeArrowheads="1"/>
          </p:cNvSpPr>
          <p:nvPr>
            <p:ph type="body" idx="1"/>
          </p:nvPr>
        </p:nvSpPr>
        <p:spPr bwMode="auto">
          <a:xfrm>
            <a:off x="457200" y="1604963"/>
            <a:ext cx="8228013"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695" rIns="0" bIns="0" numCol="1" anchor="t" anchorCtr="0" compatLnSpc="1"/>
          <a:lstStyle/>
          <a:p>
            <a:pPr lvl="0"/>
            <a:r>
              <a:rPr lang="en-US" smtClean="0"/>
              <a:t>Click to edit the outline text format</a:t>
            </a:r>
            <a:endParaRPr lang="en-US" smtClean="0"/>
          </a:p>
          <a:p>
            <a:pPr lvl="1"/>
            <a:r>
              <a:rPr lang="en-US" smtClean="0"/>
              <a:t>Second Outline Level</a:t>
            </a:r>
            <a:endParaRPr lang="en-US" smtClean="0"/>
          </a:p>
          <a:p>
            <a:pPr lvl="2"/>
            <a:r>
              <a:rPr lang="en-US" smtClean="0"/>
              <a:t>Third Outline Level</a:t>
            </a:r>
            <a:endParaRPr lang="en-US" smtClean="0"/>
          </a:p>
          <a:p>
            <a:pPr lvl="3"/>
            <a:r>
              <a:rPr lang="en-US" smtClean="0"/>
              <a:t>Fourth Outline Level</a:t>
            </a:r>
            <a:endParaRPr lang="en-US" smtClean="0"/>
          </a:p>
          <a:p>
            <a:pPr lvl="4"/>
            <a:r>
              <a:rPr lang="en-US" smtClean="0"/>
              <a:t>Fifth Outline Level</a:t>
            </a:r>
            <a:endParaRPr lang="en-US" smtClean="0"/>
          </a:p>
          <a:p>
            <a:pPr lvl="4"/>
            <a:r>
              <a:rPr lang="en-US" smtClean="0"/>
              <a:t>Sixth Outline Level</a:t>
            </a:r>
            <a:endParaRPr lang="en-US" smtClean="0"/>
          </a:p>
          <a:p>
            <a:pPr lvl="4"/>
            <a:r>
              <a:rPr lang="en-US" smtClean="0"/>
              <a:t>Seventh Outline Level</a:t>
            </a:r>
            <a:endParaRPr lang="en-US" smtClean="0"/>
          </a:p>
          <a:p>
            <a:pPr lvl="4"/>
            <a:r>
              <a:rPr lang="en-US" smtClean="0"/>
              <a:t>Eighth Outline Level</a:t>
            </a:r>
            <a:endParaRPr lang="en-US" smtClean="0"/>
          </a:p>
          <a:p>
            <a:pPr lvl="4"/>
            <a:r>
              <a:rPr lang="en-US" smtClean="0"/>
              <a:t>Ninth Outline Level</a:t>
            </a:r>
            <a:endParaRPr lang="en-US"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fontAlgn="base">
        <a:lnSpc>
          <a:spcPct val="102000"/>
        </a:lnSpc>
        <a:spcBef>
          <a:spcPct val="0"/>
        </a:spcBef>
        <a:spcAft>
          <a:spcPct val="0"/>
        </a:spcAft>
        <a:buClr>
          <a:srgbClr val="000000"/>
        </a:buClr>
        <a:buSzPct val="100000"/>
        <a:buFont typeface="Times New Roman" panose="02020603050405020304" pitchFamily="18" charset="0"/>
        <a:defRPr kern="1200">
          <a:solidFill>
            <a:srgbClr val="000000"/>
          </a:solidFill>
          <a:latin typeface="+mj-lt"/>
          <a:ea typeface="+mj-ea"/>
          <a:cs typeface="+mj-cs"/>
        </a:defRPr>
      </a:lvl1pPr>
      <a:lvl2pPr marL="742950" indent="-28575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2pPr>
      <a:lvl3pPr marL="11430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3pPr>
      <a:lvl4pPr marL="16002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4pPr>
      <a:lvl5pPr marL="20574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5pPr>
      <a:lvl6pPr marL="25146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6pPr>
      <a:lvl7pPr marL="29718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7pPr>
      <a:lvl8pPr marL="34290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8pPr>
      <a:lvl9pPr marL="38862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9pPr>
    </p:titleStyle>
    <p:bodyStyle>
      <a:lvl1pPr marL="342900" indent="-342900" algn="l" defTabSz="457200" rtl="0" fontAlgn="base">
        <a:lnSpc>
          <a:spcPct val="93000"/>
        </a:lnSpc>
        <a:spcBef>
          <a:spcPct val="0"/>
        </a:spcBef>
        <a:spcAft>
          <a:spcPts val="1425"/>
        </a:spcAft>
        <a:buClr>
          <a:srgbClr val="000000"/>
        </a:buClr>
        <a:buSzPct val="100000"/>
        <a:buFont typeface="Times New Roman" panose="02020603050405020304" pitchFamily="18" charset="0"/>
        <a:defRPr sz="2800" kern="1200">
          <a:solidFill>
            <a:srgbClr val="000000"/>
          </a:solidFill>
          <a:latin typeface="+mn-lt"/>
          <a:ea typeface="+mn-ea"/>
          <a:cs typeface="+mn-cs"/>
        </a:defRPr>
      </a:lvl1pPr>
      <a:lvl2pPr marL="742950" indent="-285750" algn="l" defTabSz="457200" rtl="0" fontAlgn="base">
        <a:lnSpc>
          <a:spcPct val="102000"/>
        </a:lnSpc>
        <a:spcBef>
          <a:spcPct val="0"/>
        </a:spcBef>
        <a:spcAft>
          <a:spcPts val="1140"/>
        </a:spcAft>
        <a:buClr>
          <a:srgbClr val="000000"/>
        </a:buClr>
        <a:buSzPct val="100000"/>
        <a:buFont typeface="Times New Roman" panose="02020603050405020304" pitchFamily="18" charset="0"/>
        <a:defRPr sz="2400" kern="1200">
          <a:solidFill>
            <a:srgbClr val="000000"/>
          </a:solidFill>
          <a:latin typeface="+mj-lt"/>
          <a:ea typeface="+mn-ea"/>
          <a:cs typeface="+mn-cs"/>
        </a:defRPr>
      </a:lvl2pPr>
      <a:lvl3pPr marL="1143000" indent="-228600" algn="l" defTabSz="457200" rtl="0" fontAlgn="base">
        <a:lnSpc>
          <a:spcPct val="102000"/>
        </a:lnSpc>
        <a:spcBef>
          <a:spcPct val="0"/>
        </a:spcBef>
        <a:spcAft>
          <a:spcPts val="850"/>
        </a:spcAft>
        <a:buClr>
          <a:srgbClr val="000000"/>
        </a:buClr>
        <a:buSzPct val="100000"/>
        <a:buFont typeface="Times New Roman" panose="02020603050405020304" pitchFamily="18" charset="0"/>
        <a:defRPr sz="2000" kern="1200">
          <a:solidFill>
            <a:srgbClr val="000000"/>
          </a:solidFill>
          <a:latin typeface="+mj-lt"/>
          <a:ea typeface="+mn-ea"/>
          <a:cs typeface="+mn-cs"/>
        </a:defRPr>
      </a:lvl3pPr>
      <a:lvl4pPr marL="1600200" indent="-228600" algn="l" defTabSz="457200" rtl="0" fontAlgn="base">
        <a:lnSpc>
          <a:spcPct val="102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j-lt"/>
          <a:ea typeface="+mn-ea"/>
          <a:cs typeface="+mn-cs"/>
        </a:defRPr>
      </a:lvl4pPr>
      <a:lvl5pPr marL="2057400" indent="-228600" algn="l" defTabSz="457200" rtl="0" fontAlgn="base">
        <a:lnSpc>
          <a:spcPct val="102000"/>
        </a:lnSpc>
        <a:spcBef>
          <a:spcPct val="0"/>
        </a:spcBef>
        <a:spcAft>
          <a:spcPts val="290"/>
        </a:spcAft>
        <a:buClr>
          <a:srgbClr val="000000"/>
        </a:buClr>
        <a:buSzPct val="100000"/>
        <a:buFont typeface="Times New Roman" panose="02020603050405020304" pitchFamily="18" charset="0"/>
        <a:defRPr sz="2000" kern="120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3" name="Rectangle 1"/>
          <p:cNvSpPr>
            <a:spLocks noChangeArrowheads="1"/>
          </p:cNvSpPr>
          <p:nvPr/>
        </p:nvSpPr>
        <p:spPr bwMode="auto">
          <a:xfrm>
            <a:off x="1588" y="6477000"/>
            <a:ext cx="9142412" cy="381000"/>
          </a:xfrm>
          <a:prstGeom prst="rect">
            <a:avLst/>
          </a:prstGeom>
          <a:solidFill>
            <a:srgbClr val="F79646"/>
          </a:solidFill>
          <a:ln w="25560" cap="flat">
            <a:solidFill>
              <a:srgbClr val="F79646"/>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9pPr>
          </a:lstStyle>
          <a:p>
            <a:pPr algn="r" hangingPunct="1">
              <a:lnSpc>
                <a:spcPct val="100000"/>
              </a:lnSpc>
            </a:pPr>
            <a:endParaRPr lang="en-US">
              <a:solidFill>
                <a:srgbClr val="FFFFFF"/>
              </a:solidFill>
              <a:latin typeface="Calibri" panose="020F0502020204030204" pitchFamily="34" charset="0"/>
            </a:endParaRPr>
          </a:p>
          <a:p>
            <a:pPr algn="r" hangingPunct="1">
              <a:lnSpc>
                <a:spcPct val="100000"/>
              </a:lnSpc>
            </a:pPr>
            <a:endParaRPr lang="en-US">
              <a:solidFill>
                <a:srgbClr val="FFFFFF"/>
              </a:solidFill>
              <a:latin typeface="Calibri" panose="020F0502020204030204" pitchFamily="34" charset="0"/>
            </a:endParaRPr>
          </a:p>
        </p:txBody>
      </p:sp>
      <p:sp>
        <p:nvSpPr>
          <p:cNvPr id="3074" name="Rectangle 2"/>
          <p:cNvSpPr>
            <a:spLocks noChangeArrowheads="1"/>
          </p:cNvSpPr>
          <p:nvPr/>
        </p:nvSpPr>
        <p:spPr bwMode="auto">
          <a:xfrm>
            <a:off x="142875" y="6500813"/>
            <a:ext cx="3868738" cy="285750"/>
          </a:xfrm>
          <a:prstGeom prst="rect">
            <a:avLst/>
          </a:prstGeom>
          <a:solidFill>
            <a:srgbClr val="F79646"/>
          </a:solidFill>
          <a:ln w="25560" cap="flat">
            <a:solidFill>
              <a:srgbClr val="F79646"/>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9pPr>
          </a:lstStyle>
          <a:p>
            <a:pPr hangingPunct="1">
              <a:lnSpc>
                <a:spcPct val="100000"/>
              </a:lnSpc>
            </a:pPr>
            <a:r>
              <a:rPr lang="en-US" dirty="0" smtClean="0">
                <a:solidFill>
                  <a:srgbClr val="FFFFFF"/>
                </a:solidFill>
                <a:latin typeface="Calibri" panose="020F0502020204030204" pitchFamily="34" charset="0"/>
              </a:rPr>
              <a:t>Bi-Gems Technologies</a:t>
            </a:r>
            <a:endParaRPr lang="en-US" dirty="0">
              <a:solidFill>
                <a:srgbClr val="FFFFFF"/>
              </a:solidFill>
              <a:latin typeface="Calibri" panose="020F0502020204030204" pitchFamily="34" charset="0"/>
            </a:endParaRPr>
          </a:p>
        </p:txBody>
      </p:sp>
      <p:sp>
        <p:nvSpPr>
          <p:cNvPr id="3076" name="Line 4"/>
          <p:cNvSpPr>
            <a:spLocks noChangeShapeType="1"/>
          </p:cNvSpPr>
          <p:nvPr/>
        </p:nvSpPr>
        <p:spPr bwMode="auto">
          <a:xfrm>
            <a:off x="446088" y="1074738"/>
            <a:ext cx="6072187" cy="1587"/>
          </a:xfrm>
          <a:prstGeom prst="line">
            <a:avLst/>
          </a:prstGeom>
          <a:noFill/>
          <a:ln w="9360" cap="flat">
            <a:solidFill>
              <a:srgbClr val="4A7EBB"/>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8" name="Rectangle 6"/>
          <p:cNvSpPr>
            <a:spLocks noGrp="1" noChangeArrowheads="1"/>
          </p:cNvSpPr>
          <p:nvPr>
            <p:ph type="title"/>
          </p:nvPr>
        </p:nvSpPr>
        <p:spPr bwMode="auto">
          <a:xfrm>
            <a:off x="500063" y="26988"/>
            <a:ext cx="54991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5000" rIns="90000" bIns="45000" numCol="1" anchor="t" anchorCtr="0" compatLnSpc="1"/>
          <a:lstStyle/>
          <a:p>
            <a:pPr lvl="0"/>
            <a:r>
              <a:rPr lang="en-US" smtClean="0"/>
              <a:t>Click to edit the title text formatClick to edit Master title style</a:t>
            </a:r>
            <a:endParaRPr lang="en-US" smtClean="0"/>
          </a:p>
        </p:txBody>
      </p:sp>
      <p:sp>
        <p:nvSpPr>
          <p:cNvPr id="3080" name="Rectangle 8"/>
          <p:cNvSpPr>
            <a:spLocks noGrp="1" noChangeArrowheads="1"/>
          </p:cNvSpPr>
          <p:nvPr>
            <p:ph type="body" idx="1"/>
          </p:nvPr>
        </p:nvSpPr>
        <p:spPr bwMode="auto">
          <a:xfrm>
            <a:off x="457200" y="1604963"/>
            <a:ext cx="8228013"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695" rIns="0" bIns="0" numCol="1" anchor="t" anchorCtr="0" compatLnSpc="1"/>
          <a:lstStyle/>
          <a:p>
            <a:pPr lvl="0"/>
            <a:r>
              <a:rPr lang="en-US" smtClean="0"/>
              <a:t>Click to edit the outline text format</a:t>
            </a:r>
            <a:endParaRPr lang="en-US" smtClean="0"/>
          </a:p>
          <a:p>
            <a:pPr lvl="1"/>
            <a:r>
              <a:rPr lang="en-US" smtClean="0"/>
              <a:t>Second Outline Level</a:t>
            </a:r>
            <a:endParaRPr lang="en-US" smtClean="0"/>
          </a:p>
          <a:p>
            <a:pPr lvl="2"/>
            <a:r>
              <a:rPr lang="en-US" smtClean="0"/>
              <a:t>Third Outline Level</a:t>
            </a:r>
            <a:endParaRPr lang="en-US" smtClean="0"/>
          </a:p>
          <a:p>
            <a:pPr lvl="3"/>
            <a:r>
              <a:rPr lang="en-US" smtClean="0"/>
              <a:t>Fourth Outline Level</a:t>
            </a:r>
            <a:endParaRPr lang="en-US" smtClean="0"/>
          </a:p>
          <a:p>
            <a:pPr lvl="4"/>
            <a:r>
              <a:rPr lang="en-US" smtClean="0"/>
              <a:t>Fifth Outline Level</a:t>
            </a:r>
            <a:endParaRPr lang="en-US" smtClean="0"/>
          </a:p>
          <a:p>
            <a:pPr lvl="4"/>
            <a:r>
              <a:rPr lang="en-US" smtClean="0"/>
              <a:t>Sixth Outline Level</a:t>
            </a:r>
            <a:endParaRPr lang="en-US" smtClean="0"/>
          </a:p>
          <a:p>
            <a:pPr lvl="4"/>
            <a:r>
              <a:rPr lang="en-US" smtClean="0"/>
              <a:t>Seventh Outline Level</a:t>
            </a:r>
            <a:endParaRPr lang="en-US" smtClean="0"/>
          </a:p>
          <a:p>
            <a:pPr lvl="4"/>
            <a:r>
              <a:rPr lang="en-US" smtClean="0"/>
              <a:t>Eighth Outline Level</a:t>
            </a:r>
            <a:endParaRPr lang="en-US" smtClean="0"/>
          </a:p>
          <a:p>
            <a:pPr lvl="4"/>
            <a:r>
              <a:rPr lang="en-US" smtClean="0"/>
              <a:t>Ninth Outline Level</a:t>
            </a:r>
            <a:endParaRPr lang="en-US" smtClean="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fontAlgn="base">
        <a:lnSpc>
          <a:spcPct val="102000"/>
        </a:lnSpc>
        <a:spcBef>
          <a:spcPct val="0"/>
        </a:spcBef>
        <a:spcAft>
          <a:spcPct val="0"/>
        </a:spcAft>
        <a:buClr>
          <a:srgbClr val="000000"/>
        </a:buClr>
        <a:buSzPct val="100000"/>
        <a:buFont typeface="Times New Roman" panose="02020603050405020304" pitchFamily="18" charset="0"/>
        <a:defRPr kern="1200">
          <a:solidFill>
            <a:srgbClr val="000000"/>
          </a:solidFill>
          <a:latin typeface="+mj-lt"/>
          <a:ea typeface="+mj-ea"/>
          <a:cs typeface="+mj-cs"/>
        </a:defRPr>
      </a:lvl1pPr>
      <a:lvl2pPr marL="742950" indent="-28575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2pPr>
      <a:lvl3pPr marL="11430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3pPr>
      <a:lvl4pPr marL="16002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4pPr>
      <a:lvl5pPr marL="20574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5pPr>
      <a:lvl6pPr marL="25146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6pPr>
      <a:lvl7pPr marL="29718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7pPr>
      <a:lvl8pPr marL="34290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8pPr>
      <a:lvl9pPr marL="38862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9pPr>
    </p:titleStyle>
    <p:bodyStyle>
      <a:lvl1pPr marL="342900" indent="-342900" algn="l" defTabSz="457200" rtl="0" fontAlgn="base">
        <a:lnSpc>
          <a:spcPct val="93000"/>
        </a:lnSpc>
        <a:spcBef>
          <a:spcPct val="0"/>
        </a:spcBef>
        <a:spcAft>
          <a:spcPts val="1425"/>
        </a:spcAft>
        <a:buClr>
          <a:srgbClr val="000000"/>
        </a:buClr>
        <a:buSzPct val="100000"/>
        <a:buFont typeface="Times New Roman" panose="02020603050405020304" pitchFamily="18" charset="0"/>
        <a:defRPr sz="2800" kern="1200">
          <a:solidFill>
            <a:srgbClr val="000000"/>
          </a:solidFill>
          <a:latin typeface="+mn-lt"/>
          <a:ea typeface="+mn-ea"/>
          <a:cs typeface="+mn-cs"/>
        </a:defRPr>
      </a:lvl1pPr>
      <a:lvl2pPr marL="742950" indent="-285750" algn="l" defTabSz="457200" rtl="0" fontAlgn="base">
        <a:lnSpc>
          <a:spcPct val="102000"/>
        </a:lnSpc>
        <a:spcBef>
          <a:spcPct val="0"/>
        </a:spcBef>
        <a:spcAft>
          <a:spcPts val="1140"/>
        </a:spcAft>
        <a:buClr>
          <a:srgbClr val="000000"/>
        </a:buClr>
        <a:buSzPct val="100000"/>
        <a:buFont typeface="Times New Roman" panose="02020603050405020304" pitchFamily="18" charset="0"/>
        <a:defRPr sz="2400" kern="1200">
          <a:solidFill>
            <a:srgbClr val="000000"/>
          </a:solidFill>
          <a:latin typeface="+mj-lt"/>
          <a:ea typeface="+mn-ea"/>
          <a:cs typeface="+mn-cs"/>
        </a:defRPr>
      </a:lvl2pPr>
      <a:lvl3pPr marL="1143000" indent="-228600" algn="l" defTabSz="457200" rtl="0" fontAlgn="base">
        <a:lnSpc>
          <a:spcPct val="102000"/>
        </a:lnSpc>
        <a:spcBef>
          <a:spcPct val="0"/>
        </a:spcBef>
        <a:spcAft>
          <a:spcPts val="850"/>
        </a:spcAft>
        <a:buClr>
          <a:srgbClr val="000000"/>
        </a:buClr>
        <a:buSzPct val="100000"/>
        <a:buFont typeface="Times New Roman" panose="02020603050405020304" pitchFamily="18" charset="0"/>
        <a:defRPr sz="2000" kern="1200">
          <a:solidFill>
            <a:srgbClr val="000000"/>
          </a:solidFill>
          <a:latin typeface="+mj-lt"/>
          <a:ea typeface="+mn-ea"/>
          <a:cs typeface="+mn-cs"/>
        </a:defRPr>
      </a:lvl3pPr>
      <a:lvl4pPr marL="1600200" indent="-228600" algn="l" defTabSz="457200" rtl="0" fontAlgn="base">
        <a:lnSpc>
          <a:spcPct val="102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j-lt"/>
          <a:ea typeface="+mn-ea"/>
          <a:cs typeface="+mn-cs"/>
        </a:defRPr>
      </a:lvl4pPr>
      <a:lvl5pPr marL="2057400" indent="-228600" algn="l" defTabSz="457200" rtl="0" fontAlgn="base">
        <a:lnSpc>
          <a:spcPct val="102000"/>
        </a:lnSpc>
        <a:spcBef>
          <a:spcPct val="0"/>
        </a:spcBef>
        <a:spcAft>
          <a:spcPts val="290"/>
        </a:spcAft>
        <a:buClr>
          <a:srgbClr val="000000"/>
        </a:buClr>
        <a:buSzPct val="100000"/>
        <a:buFont typeface="Times New Roman" panose="02020603050405020304" pitchFamily="18" charset="0"/>
        <a:defRPr sz="2000" kern="120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7" name="Rectangle 1"/>
          <p:cNvSpPr>
            <a:spLocks noChangeArrowheads="1"/>
          </p:cNvSpPr>
          <p:nvPr/>
        </p:nvSpPr>
        <p:spPr bwMode="auto">
          <a:xfrm>
            <a:off x="1588" y="6477000"/>
            <a:ext cx="9142412" cy="381000"/>
          </a:xfrm>
          <a:prstGeom prst="rect">
            <a:avLst/>
          </a:prstGeom>
          <a:solidFill>
            <a:srgbClr val="F79646"/>
          </a:solidFill>
          <a:ln w="25560" cap="flat">
            <a:solidFill>
              <a:srgbClr val="F79646"/>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icrosoft YaHei" panose="020B0503020204020204" pitchFamily="34" charset="-122"/>
              </a:defRPr>
            </a:lvl9pPr>
          </a:lstStyle>
          <a:p>
            <a:pPr algn="r" hangingPunct="1">
              <a:lnSpc>
                <a:spcPct val="100000"/>
              </a:lnSpc>
            </a:pPr>
            <a:endParaRPr lang="en-US">
              <a:solidFill>
                <a:srgbClr val="FFFFFF"/>
              </a:solidFill>
              <a:latin typeface="Calibri" panose="020F0502020204030204" pitchFamily="34" charset="0"/>
            </a:endParaRPr>
          </a:p>
          <a:p>
            <a:pPr algn="r" hangingPunct="1">
              <a:lnSpc>
                <a:spcPct val="100000"/>
              </a:lnSpc>
            </a:pPr>
            <a:endParaRPr lang="en-US">
              <a:solidFill>
                <a:srgbClr val="FFFFFF"/>
              </a:solidFill>
              <a:latin typeface="Calibri" panose="020F0502020204030204" pitchFamily="34" charset="0"/>
            </a:endParaRPr>
          </a:p>
        </p:txBody>
      </p:sp>
      <p:sp>
        <p:nvSpPr>
          <p:cNvPr id="4098" name="Rectangle 2"/>
          <p:cNvSpPr>
            <a:spLocks noChangeArrowheads="1"/>
          </p:cNvSpPr>
          <p:nvPr/>
        </p:nvSpPr>
        <p:spPr bwMode="auto">
          <a:xfrm>
            <a:off x="142875" y="6500813"/>
            <a:ext cx="3868738" cy="285750"/>
          </a:xfrm>
          <a:prstGeom prst="rect">
            <a:avLst/>
          </a:prstGeom>
          <a:solidFill>
            <a:srgbClr val="F79646"/>
          </a:solidFill>
          <a:ln w="25560" cap="flat">
            <a:solidFill>
              <a:srgbClr val="F79646"/>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icrosoft YaHei" panose="020B0503020204020204" pitchFamily="34" charset="-122"/>
              </a:defRPr>
            </a:lvl9pPr>
          </a:lstStyle>
          <a:p>
            <a:pPr hangingPunct="1">
              <a:lnSpc>
                <a:spcPct val="100000"/>
              </a:lnSpc>
            </a:pPr>
            <a:r>
              <a:rPr lang="en-US" dirty="0" smtClean="0">
                <a:solidFill>
                  <a:srgbClr val="FFFFFF"/>
                </a:solidFill>
                <a:latin typeface="Calibri" panose="020F0502020204030204" pitchFamily="34" charset="0"/>
              </a:rPr>
              <a:t>Bi-Gems</a:t>
            </a:r>
            <a:r>
              <a:rPr lang="en-US" baseline="0" dirty="0" smtClean="0">
                <a:solidFill>
                  <a:srgbClr val="FFFFFF"/>
                </a:solidFill>
                <a:latin typeface="Calibri" panose="020F0502020204030204" pitchFamily="34" charset="0"/>
              </a:rPr>
              <a:t> Technologies</a:t>
            </a:r>
            <a:endParaRPr lang="en-US" dirty="0">
              <a:solidFill>
                <a:srgbClr val="FFFFFF"/>
              </a:solidFill>
              <a:latin typeface="Calibri" panose="020F0502020204030204" pitchFamily="34" charset="0"/>
            </a:endParaRPr>
          </a:p>
        </p:txBody>
      </p:sp>
      <p:sp>
        <p:nvSpPr>
          <p:cNvPr id="4100" name="Line 4"/>
          <p:cNvSpPr>
            <a:spLocks noChangeShapeType="1"/>
          </p:cNvSpPr>
          <p:nvPr/>
        </p:nvSpPr>
        <p:spPr bwMode="auto">
          <a:xfrm>
            <a:off x="446088" y="1074738"/>
            <a:ext cx="6072187" cy="1587"/>
          </a:xfrm>
          <a:prstGeom prst="line">
            <a:avLst/>
          </a:prstGeom>
          <a:noFill/>
          <a:ln w="9360" cap="flat">
            <a:solidFill>
              <a:srgbClr val="4A7EBB"/>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02" name="Rectangle 6"/>
          <p:cNvSpPr>
            <a:spLocks noGrp="1" noChangeArrowheads="1"/>
          </p:cNvSpPr>
          <p:nvPr>
            <p:ph type="title"/>
          </p:nvPr>
        </p:nvSpPr>
        <p:spPr bwMode="auto">
          <a:xfrm>
            <a:off x="500063" y="26988"/>
            <a:ext cx="54991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5000" rIns="90000" bIns="45000" numCol="1" anchor="t" anchorCtr="0" compatLnSpc="1"/>
          <a:lstStyle/>
          <a:p>
            <a:pPr lvl="0"/>
            <a:r>
              <a:rPr lang="en-US" smtClean="0"/>
              <a:t>Click to edit the title text formatClick to edit Master title style</a:t>
            </a:r>
            <a:endParaRPr lang="en-US" smtClean="0"/>
          </a:p>
        </p:txBody>
      </p:sp>
      <p:pic>
        <p:nvPicPr>
          <p:cNvPr id="4103"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000" y="1063625"/>
            <a:ext cx="8126413" cy="50784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04" name="Rectangle 8"/>
          <p:cNvSpPr>
            <a:spLocks noGrp="1" noChangeArrowheads="1"/>
          </p:cNvSpPr>
          <p:nvPr>
            <p:ph type="body" idx="1"/>
          </p:nvPr>
        </p:nvSpPr>
        <p:spPr bwMode="auto">
          <a:xfrm>
            <a:off x="457200" y="1604963"/>
            <a:ext cx="8228013"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695" rIns="0" bIns="0" numCol="1" anchor="t" anchorCtr="0" compatLnSpc="1"/>
          <a:lstStyle/>
          <a:p>
            <a:pPr lvl="0"/>
            <a:r>
              <a:rPr lang="en-US" smtClean="0"/>
              <a:t>Click to edit the outline text format</a:t>
            </a:r>
            <a:endParaRPr lang="en-US" smtClean="0"/>
          </a:p>
          <a:p>
            <a:pPr lvl="1"/>
            <a:r>
              <a:rPr lang="en-US" smtClean="0"/>
              <a:t>Second Outline Level</a:t>
            </a:r>
            <a:endParaRPr lang="en-US" smtClean="0"/>
          </a:p>
          <a:p>
            <a:pPr lvl="2"/>
            <a:r>
              <a:rPr lang="en-US" smtClean="0"/>
              <a:t>Third Outline Level</a:t>
            </a:r>
            <a:endParaRPr lang="en-US" smtClean="0"/>
          </a:p>
          <a:p>
            <a:pPr lvl="3"/>
            <a:r>
              <a:rPr lang="en-US" smtClean="0"/>
              <a:t>Fourth Outline Level</a:t>
            </a:r>
            <a:endParaRPr lang="en-US" smtClean="0"/>
          </a:p>
          <a:p>
            <a:pPr lvl="4"/>
            <a:r>
              <a:rPr lang="en-US" smtClean="0"/>
              <a:t>Fifth Outline Level</a:t>
            </a:r>
            <a:endParaRPr lang="en-US" smtClean="0"/>
          </a:p>
          <a:p>
            <a:pPr lvl="4"/>
            <a:r>
              <a:rPr lang="en-US" smtClean="0"/>
              <a:t>Sixth Outline Level</a:t>
            </a:r>
            <a:endParaRPr lang="en-US" smtClean="0"/>
          </a:p>
          <a:p>
            <a:pPr lvl="4"/>
            <a:r>
              <a:rPr lang="en-US" smtClean="0"/>
              <a:t>Seventh Outline Level</a:t>
            </a:r>
            <a:endParaRPr lang="en-US" smtClean="0"/>
          </a:p>
          <a:p>
            <a:pPr lvl="4"/>
            <a:r>
              <a:rPr lang="en-US" smtClean="0"/>
              <a:t>Eighth Outline Level</a:t>
            </a:r>
            <a:endParaRPr lang="en-US" smtClean="0"/>
          </a:p>
          <a:p>
            <a:pPr lvl="4"/>
            <a:r>
              <a:rPr lang="en-US" smtClean="0"/>
              <a:t>Ninth Outline Level</a:t>
            </a:r>
            <a:endParaRPr lang="en-US" smtClean="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fontAlgn="base">
        <a:lnSpc>
          <a:spcPct val="102000"/>
        </a:lnSpc>
        <a:spcBef>
          <a:spcPct val="0"/>
        </a:spcBef>
        <a:spcAft>
          <a:spcPct val="0"/>
        </a:spcAft>
        <a:buClr>
          <a:srgbClr val="000000"/>
        </a:buClr>
        <a:buSzPct val="100000"/>
        <a:buFont typeface="Times New Roman" panose="02020603050405020304" pitchFamily="18" charset="0"/>
        <a:defRPr kern="1200">
          <a:solidFill>
            <a:srgbClr val="000000"/>
          </a:solidFill>
          <a:latin typeface="+mj-lt"/>
          <a:ea typeface="+mj-ea"/>
          <a:cs typeface="+mj-cs"/>
        </a:defRPr>
      </a:lvl1pPr>
      <a:lvl2pPr marL="742950" indent="-28575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2pPr>
      <a:lvl3pPr marL="11430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3pPr>
      <a:lvl4pPr marL="16002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4pPr>
      <a:lvl5pPr marL="20574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5pPr>
      <a:lvl6pPr marL="25146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6pPr>
      <a:lvl7pPr marL="29718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7pPr>
      <a:lvl8pPr marL="34290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8pPr>
      <a:lvl9pPr marL="3886200" indent="-228600" algn="l" defTabSz="457200" rtl="0" fontAlgn="base">
        <a:lnSpc>
          <a:spcPct val="102000"/>
        </a:lnSpc>
        <a:spcBef>
          <a:spcPct val="0"/>
        </a:spcBef>
        <a:spcAft>
          <a:spcPct val="0"/>
        </a:spcAft>
        <a:buClr>
          <a:srgbClr val="000000"/>
        </a:buClr>
        <a:buSzPct val="100000"/>
        <a:buFont typeface="Times New Roman" panose="02020603050405020304" pitchFamily="18" charset="0"/>
        <a:defRPr>
          <a:solidFill>
            <a:srgbClr val="000000"/>
          </a:solidFill>
          <a:latin typeface="Calibri" panose="020F0502020204030204" pitchFamily="34" charset="0"/>
          <a:ea typeface="Microsoft YaHei" panose="020B0503020204020204" pitchFamily="34" charset="-122"/>
        </a:defRPr>
      </a:lvl9pPr>
    </p:titleStyle>
    <p:bodyStyle>
      <a:lvl1pPr marL="342900" indent="-342900" algn="l" defTabSz="457200" rtl="0" fontAlgn="base">
        <a:lnSpc>
          <a:spcPct val="93000"/>
        </a:lnSpc>
        <a:spcBef>
          <a:spcPct val="0"/>
        </a:spcBef>
        <a:spcAft>
          <a:spcPts val="1425"/>
        </a:spcAft>
        <a:buClr>
          <a:srgbClr val="000000"/>
        </a:buClr>
        <a:buSzPct val="100000"/>
        <a:buFont typeface="Times New Roman" panose="02020603050405020304" pitchFamily="18" charset="0"/>
        <a:defRPr sz="2800" kern="1200">
          <a:solidFill>
            <a:srgbClr val="000000"/>
          </a:solidFill>
          <a:latin typeface="+mn-lt"/>
          <a:ea typeface="+mn-ea"/>
          <a:cs typeface="+mn-cs"/>
        </a:defRPr>
      </a:lvl1pPr>
      <a:lvl2pPr marL="742950" indent="-285750" algn="l" defTabSz="457200" rtl="0" fontAlgn="base">
        <a:lnSpc>
          <a:spcPct val="102000"/>
        </a:lnSpc>
        <a:spcBef>
          <a:spcPct val="0"/>
        </a:spcBef>
        <a:spcAft>
          <a:spcPts val="1140"/>
        </a:spcAft>
        <a:buClr>
          <a:srgbClr val="000000"/>
        </a:buClr>
        <a:buSzPct val="100000"/>
        <a:buFont typeface="Times New Roman" panose="02020603050405020304" pitchFamily="18" charset="0"/>
        <a:defRPr sz="2400" kern="1200">
          <a:solidFill>
            <a:srgbClr val="000000"/>
          </a:solidFill>
          <a:latin typeface="+mj-lt"/>
          <a:ea typeface="+mn-ea"/>
          <a:cs typeface="+mn-cs"/>
        </a:defRPr>
      </a:lvl2pPr>
      <a:lvl3pPr marL="1143000" indent="-228600" algn="l" defTabSz="457200" rtl="0" fontAlgn="base">
        <a:lnSpc>
          <a:spcPct val="102000"/>
        </a:lnSpc>
        <a:spcBef>
          <a:spcPct val="0"/>
        </a:spcBef>
        <a:spcAft>
          <a:spcPts val="850"/>
        </a:spcAft>
        <a:buClr>
          <a:srgbClr val="000000"/>
        </a:buClr>
        <a:buSzPct val="100000"/>
        <a:buFont typeface="Times New Roman" panose="02020603050405020304" pitchFamily="18" charset="0"/>
        <a:defRPr sz="2000" kern="1200">
          <a:solidFill>
            <a:srgbClr val="000000"/>
          </a:solidFill>
          <a:latin typeface="+mj-lt"/>
          <a:ea typeface="+mn-ea"/>
          <a:cs typeface="+mn-cs"/>
        </a:defRPr>
      </a:lvl3pPr>
      <a:lvl4pPr marL="1600200" indent="-228600" algn="l" defTabSz="457200" rtl="0" fontAlgn="base">
        <a:lnSpc>
          <a:spcPct val="102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j-lt"/>
          <a:ea typeface="+mn-ea"/>
          <a:cs typeface="+mn-cs"/>
        </a:defRPr>
      </a:lvl4pPr>
      <a:lvl5pPr marL="2057400" indent="-228600" algn="l" defTabSz="457200" rtl="0" fontAlgn="base">
        <a:lnSpc>
          <a:spcPct val="102000"/>
        </a:lnSpc>
        <a:spcBef>
          <a:spcPct val="0"/>
        </a:spcBef>
        <a:spcAft>
          <a:spcPts val="290"/>
        </a:spcAft>
        <a:buClr>
          <a:srgbClr val="000000"/>
        </a:buClr>
        <a:buSzPct val="100000"/>
        <a:buFont typeface="Times New Roman" panose="02020603050405020304" pitchFamily="18" charset="0"/>
        <a:defRPr sz="2000" kern="120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09600"/>
            <a:ext cx="6019800" cy="349968"/>
          </a:xfrm>
          <a:prstGeom prst="rect">
            <a:avLst/>
          </a:prstGeom>
        </p:spPr>
        <p:txBody>
          <a:bodyPr wrap="square">
            <a:spAutoFit/>
          </a:bodyPr>
          <a:lstStyle/>
          <a:p>
            <a:r>
              <a:rPr lang="en-US" b="1" dirty="0" smtClean="0"/>
              <a:t>What are the Software Development Models?</a:t>
            </a:r>
            <a:endParaRPr lang="en-US" b="1" dirty="0"/>
          </a:p>
        </p:txBody>
      </p:sp>
      <p:sp>
        <p:nvSpPr>
          <p:cNvPr id="3" name="Rectangle 2"/>
          <p:cNvSpPr/>
          <p:nvPr/>
        </p:nvSpPr>
        <p:spPr>
          <a:xfrm>
            <a:off x="304800" y="1143000"/>
            <a:ext cx="8534400" cy="550279"/>
          </a:xfrm>
          <a:prstGeom prst="rect">
            <a:avLst/>
          </a:prstGeom>
        </p:spPr>
        <p:txBody>
          <a:bodyPr wrap="square">
            <a:spAutoFit/>
          </a:bodyPr>
          <a:lstStyle/>
          <a:p>
            <a:r>
              <a:rPr lang="en-US" sz="1600" dirty="0" smtClean="0"/>
              <a:t>The </a:t>
            </a:r>
            <a:r>
              <a:rPr lang="en-US" sz="1600" b="1" dirty="0" smtClean="0"/>
              <a:t>software development models</a:t>
            </a:r>
            <a:r>
              <a:rPr lang="en-US" sz="1600" dirty="0" smtClean="0"/>
              <a:t> are the various processes or methodologies that are being selected for the development of the project depending on the project’s aims and goals</a:t>
            </a:r>
            <a:endParaRPr lang="en-US" sz="1600" dirty="0"/>
          </a:p>
        </p:txBody>
      </p:sp>
      <p:sp>
        <p:nvSpPr>
          <p:cNvPr id="63490" name="Rectangle 2"/>
          <p:cNvSpPr>
            <a:spLocks noChangeArrowheads="1"/>
          </p:cNvSpPr>
          <p:nvPr/>
        </p:nvSpPr>
        <p:spPr bwMode="auto">
          <a:xfrm>
            <a:off x="533400" y="1981200"/>
            <a:ext cx="9289620" cy="4089453"/>
          </a:xfrm>
          <a:prstGeom prst="rect">
            <a:avLst/>
          </a:prstGeom>
          <a:noFill/>
          <a:ln w="9525">
            <a:noFill/>
            <a:miter lim="800000"/>
          </a:ln>
          <a:effectLst/>
        </p:spPr>
        <p:txBody>
          <a:bodyPr vert="horz" wrap="square" lIns="91440" tIns="45720" rIns="91440" bIns="45720" numCol="1" anchor="ctr" anchorCtr="0" compatLnSpc="1">
            <a:spAutoFit/>
          </a:bodyPr>
          <a:lstStyle/>
          <a:p>
            <a:r>
              <a:rPr kumimoji="0" lang="en-US" sz="1200" b="0" i="0" u="none" strike="noStrike" cap="none" normalizeH="0" baseline="0" dirty="0" smtClean="0">
                <a:ln>
                  <a:noFill/>
                </a:ln>
                <a:solidFill>
                  <a:srgbClr val="333333"/>
                </a:solidFill>
                <a:effectLst/>
                <a:latin typeface="Open Sans"/>
                <a:cs typeface="Arial" panose="020B0604020202020204" pitchFamily="34" charset="0"/>
              </a:rPr>
              <a:t> </a:t>
            </a:r>
            <a:r>
              <a:rPr lang="en-US" dirty="0" smtClean="0"/>
              <a:t>There are various Software development models or methodologies. </a:t>
            </a:r>
            <a:endParaRPr lang="en-US" dirty="0" smtClean="0"/>
          </a:p>
          <a:p>
            <a:pPr marL="1257300" lvl="2" indent="-342900">
              <a:lnSpc>
                <a:spcPct val="150000"/>
              </a:lnSpc>
              <a:buFont typeface="+mj-lt"/>
              <a:buAutoNum type="arabicPeriod"/>
            </a:pPr>
            <a:r>
              <a:rPr lang="en-US" dirty="0" smtClean="0"/>
              <a:t>Waterfall model</a:t>
            </a:r>
            <a:endParaRPr lang="en-US" dirty="0" smtClean="0"/>
          </a:p>
          <a:p>
            <a:pPr marL="1257300" lvl="2" indent="-342900">
              <a:lnSpc>
                <a:spcPct val="150000"/>
              </a:lnSpc>
              <a:buFont typeface="+mj-lt"/>
              <a:buAutoNum type="arabicPeriod"/>
            </a:pPr>
            <a:r>
              <a:rPr lang="en-US" dirty="0" smtClean="0"/>
              <a:t>V model</a:t>
            </a:r>
            <a:endParaRPr lang="en-US" dirty="0" smtClean="0"/>
          </a:p>
          <a:p>
            <a:pPr marL="1257300" lvl="2" indent="-342900">
              <a:lnSpc>
                <a:spcPct val="150000"/>
              </a:lnSpc>
              <a:buFont typeface="+mj-lt"/>
              <a:buAutoNum type="arabicPeriod"/>
            </a:pPr>
            <a:r>
              <a:rPr lang="en-US" dirty="0" smtClean="0"/>
              <a:t>Incremental model</a:t>
            </a:r>
            <a:endParaRPr lang="en-US" dirty="0" smtClean="0"/>
          </a:p>
          <a:p>
            <a:pPr marL="1257300" lvl="2" indent="-342900">
              <a:lnSpc>
                <a:spcPct val="150000"/>
              </a:lnSpc>
              <a:buFont typeface="+mj-lt"/>
              <a:buAutoNum type="arabicPeriod"/>
            </a:pPr>
            <a:r>
              <a:rPr lang="en-US" dirty="0" smtClean="0"/>
              <a:t>RAD model</a:t>
            </a:r>
            <a:endParaRPr lang="en-US" dirty="0" smtClean="0"/>
          </a:p>
          <a:p>
            <a:pPr marL="1257300" lvl="2" indent="-342900">
              <a:lnSpc>
                <a:spcPct val="150000"/>
              </a:lnSpc>
              <a:buFont typeface="+mj-lt"/>
              <a:buAutoNum type="arabicPeriod"/>
            </a:pPr>
            <a:r>
              <a:rPr lang="en-US" dirty="0" smtClean="0"/>
              <a:t>Agile model</a:t>
            </a:r>
            <a:endParaRPr lang="en-US" dirty="0" smtClean="0"/>
          </a:p>
          <a:p>
            <a:pPr marL="1257300" lvl="2" indent="-342900">
              <a:lnSpc>
                <a:spcPct val="150000"/>
              </a:lnSpc>
              <a:buFont typeface="+mj-lt"/>
              <a:buAutoNum type="arabicPeriod"/>
            </a:pPr>
            <a:r>
              <a:rPr lang="en-US" dirty="0" smtClean="0"/>
              <a:t>Iterative model</a:t>
            </a:r>
            <a:endParaRPr lang="en-US" dirty="0" smtClean="0"/>
          </a:p>
          <a:p>
            <a:pPr marL="1257300" lvl="2" indent="-342900">
              <a:lnSpc>
                <a:spcPct val="150000"/>
              </a:lnSpc>
              <a:buFont typeface="+mj-lt"/>
              <a:buAutoNum type="arabicPeriod"/>
            </a:pPr>
            <a:r>
              <a:rPr lang="en-US" dirty="0" smtClean="0"/>
              <a:t>Spiral model</a:t>
            </a:r>
            <a:endParaRPr lang="en-US" dirty="0" smtClean="0"/>
          </a:p>
          <a:p>
            <a:pPr marL="1257300" lvl="2" indent="-342900">
              <a:lnSpc>
                <a:spcPct val="150000"/>
              </a:lnSpc>
              <a:buFont typeface="+mj-lt"/>
              <a:buAutoNum type="arabicPeriod"/>
            </a:pPr>
            <a:r>
              <a:rPr lang="en-US" dirty="0" smtClean="0"/>
              <a:t>Prototype model</a:t>
            </a:r>
            <a:endParaRPr lang="en-US" dirty="0" smtClean="0"/>
          </a:p>
          <a:p>
            <a:pPr marL="1485900" lvl="2" indent="-342900" defTabSz="914400" hangingPunct="1">
              <a:lnSpc>
                <a:spcPct val="150000"/>
              </a:lnSpc>
              <a:buClrTx/>
              <a:buSzTx/>
              <a:buFont typeface="+mj-lt"/>
              <a:buAutoNum type="arabicPeriod"/>
            </a:pPr>
            <a:endParaRPr kumimoji="0" lang="en-US"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077200" cy="349968"/>
          </a:xfrm>
          <a:prstGeom prst="rect">
            <a:avLst/>
          </a:prstGeom>
        </p:spPr>
        <p:txBody>
          <a:bodyPr wrap="square">
            <a:spAutoFit/>
          </a:bodyPr>
          <a:lstStyle/>
          <a:p>
            <a:r>
              <a:rPr lang="en-US" b="1" dirty="0" smtClean="0"/>
              <a:t>What is Waterfall model- advantages, disadvantages and when to use it</a:t>
            </a:r>
            <a:endParaRPr lang="en-US" b="1" dirty="0"/>
          </a:p>
        </p:txBody>
      </p:sp>
      <p:sp>
        <p:nvSpPr>
          <p:cNvPr id="3" name="Rectangle 2"/>
          <p:cNvSpPr/>
          <p:nvPr/>
        </p:nvSpPr>
        <p:spPr>
          <a:xfrm>
            <a:off x="304800" y="1143000"/>
            <a:ext cx="8305800" cy="779252"/>
          </a:xfrm>
          <a:prstGeom prst="rect">
            <a:avLst/>
          </a:prstGeom>
        </p:spPr>
        <p:txBody>
          <a:bodyPr wrap="square">
            <a:spAutoFit/>
          </a:bodyPr>
          <a:lstStyle/>
          <a:p>
            <a:r>
              <a:rPr lang="en-US" sz="1600" dirty="0" smtClean="0"/>
              <a:t>In a waterfall model, each phase must be completed fully before the next phase can begin. This type of model is basically used for the for the project which is small and there are no uncertain requirements</a:t>
            </a:r>
            <a:endParaRPr lang="en-US" sz="1600" dirty="0"/>
          </a:p>
        </p:txBody>
      </p:sp>
      <p:pic>
        <p:nvPicPr>
          <p:cNvPr id="67586" name="Picture 2"/>
          <p:cNvPicPr>
            <a:picLocks noChangeAspect="1" noChangeArrowheads="1"/>
          </p:cNvPicPr>
          <p:nvPr/>
        </p:nvPicPr>
        <p:blipFill>
          <a:blip r:embed="rId1"/>
          <a:srcRect/>
          <a:stretch>
            <a:fillRect/>
          </a:stretch>
        </p:blipFill>
        <p:spPr bwMode="auto">
          <a:xfrm>
            <a:off x="1219200" y="1905000"/>
            <a:ext cx="5724525" cy="4248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295400"/>
            <a:ext cx="7391400" cy="3068982"/>
          </a:xfrm>
          <a:prstGeom prst="rect">
            <a:avLst/>
          </a:prstGeom>
        </p:spPr>
        <p:txBody>
          <a:bodyPr wrap="square">
            <a:spAutoFit/>
          </a:bodyPr>
          <a:lstStyle/>
          <a:p>
            <a:br>
              <a:rPr lang="en-US" sz="1600" b="1" dirty="0" smtClean="0"/>
            </a:br>
            <a:endParaRPr lang="en-US" sz="1600" dirty="0" smtClean="0"/>
          </a:p>
          <a:p>
            <a:r>
              <a:rPr lang="en-US" sz="1600" dirty="0" smtClean="0"/>
              <a:t>This model is simple and easy to understand and use.</a:t>
            </a:r>
            <a:endParaRPr lang="en-US" sz="1600" dirty="0" smtClean="0"/>
          </a:p>
          <a:p>
            <a:endParaRPr lang="en-US" sz="1600" dirty="0" smtClean="0"/>
          </a:p>
          <a:p>
            <a:r>
              <a:rPr lang="en-US" sz="1600" dirty="0" smtClean="0"/>
              <a:t>It is easy to manage due to the rigidity of the model – each phase has specific deliverables and a review process.</a:t>
            </a:r>
            <a:endParaRPr lang="en-US" sz="1600" dirty="0" smtClean="0"/>
          </a:p>
          <a:p>
            <a:endParaRPr lang="en-US" sz="1600" dirty="0" smtClean="0"/>
          </a:p>
          <a:p>
            <a:r>
              <a:rPr lang="en-US" sz="1600" dirty="0" smtClean="0"/>
              <a:t>In this model phases are processed and completed one at a time. Phases do not overlap.</a:t>
            </a:r>
            <a:endParaRPr lang="en-US" sz="1600" dirty="0" smtClean="0"/>
          </a:p>
          <a:p>
            <a:endParaRPr lang="en-US" sz="1600" dirty="0" smtClean="0"/>
          </a:p>
          <a:p>
            <a:r>
              <a:rPr lang="en-US" sz="1600" dirty="0" smtClean="0"/>
              <a:t>Waterfall model works well for smaller projects where requirements are very well understood.</a:t>
            </a:r>
            <a:endParaRPr lang="en-US" sz="1600" dirty="0" smtClean="0"/>
          </a:p>
          <a:p>
            <a:r>
              <a:rPr lang="en-US" sz="1600" b="1" dirty="0" smtClean="0"/>
              <a:t> </a:t>
            </a:r>
            <a:endParaRPr lang="en-US" sz="1600" dirty="0"/>
          </a:p>
        </p:txBody>
      </p:sp>
      <p:sp>
        <p:nvSpPr>
          <p:cNvPr id="3" name="Rectangle 2"/>
          <p:cNvSpPr/>
          <p:nvPr/>
        </p:nvSpPr>
        <p:spPr>
          <a:xfrm>
            <a:off x="457200" y="609600"/>
            <a:ext cx="3595856" cy="349968"/>
          </a:xfrm>
          <a:prstGeom prst="rect">
            <a:avLst/>
          </a:prstGeom>
        </p:spPr>
        <p:txBody>
          <a:bodyPr wrap="none">
            <a:spAutoFit/>
          </a:bodyPr>
          <a:lstStyle/>
          <a:p>
            <a:r>
              <a:rPr lang="en-US" b="1" dirty="0" smtClean="0"/>
              <a:t>Advantages of waterfall model:</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609600"/>
            <a:ext cx="3916457" cy="349968"/>
          </a:xfrm>
          <a:prstGeom prst="rect">
            <a:avLst/>
          </a:prstGeom>
        </p:spPr>
        <p:txBody>
          <a:bodyPr wrap="none">
            <a:spAutoFit/>
          </a:bodyPr>
          <a:lstStyle/>
          <a:p>
            <a:r>
              <a:rPr lang="en-US" b="1" dirty="0" smtClean="0"/>
              <a:t>Disadvantages of waterfall model:</a:t>
            </a:r>
            <a:endParaRPr lang="en-US" dirty="0"/>
          </a:p>
        </p:txBody>
      </p:sp>
      <p:sp>
        <p:nvSpPr>
          <p:cNvPr id="3" name="Rectangle 2"/>
          <p:cNvSpPr/>
          <p:nvPr/>
        </p:nvSpPr>
        <p:spPr>
          <a:xfrm>
            <a:off x="609600" y="1295401"/>
            <a:ext cx="7848600" cy="3068982"/>
          </a:xfrm>
          <a:prstGeom prst="rect">
            <a:avLst/>
          </a:prstGeom>
        </p:spPr>
        <p:txBody>
          <a:bodyPr wrap="square">
            <a:spAutoFit/>
          </a:bodyPr>
          <a:lstStyle/>
          <a:p>
            <a:r>
              <a:rPr lang="en-US" sz="1600" dirty="0" smtClean="0"/>
              <a:t>Once an application is in the testing stage, it is very difficult to go back and change something that was not well-thought out in the concept stage.</a:t>
            </a:r>
            <a:endParaRPr lang="en-US" sz="1600" dirty="0" smtClean="0"/>
          </a:p>
          <a:p>
            <a:endParaRPr lang="en-US" sz="1600" dirty="0" smtClean="0"/>
          </a:p>
          <a:p>
            <a:r>
              <a:rPr lang="en-US" sz="1600" dirty="0" smtClean="0"/>
              <a:t>No working software is produced until late during the life cycle.</a:t>
            </a:r>
            <a:endParaRPr lang="en-US" sz="1600" dirty="0" smtClean="0"/>
          </a:p>
          <a:p>
            <a:endParaRPr lang="en-US" sz="1600" dirty="0" smtClean="0"/>
          </a:p>
          <a:p>
            <a:r>
              <a:rPr lang="en-US" sz="1600" dirty="0" smtClean="0"/>
              <a:t>High amounts of risk and uncertainty.</a:t>
            </a:r>
            <a:endParaRPr lang="en-US" sz="1600" dirty="0" smtClean="0"/>
          </a:p>
          <a:p>
            <a:endParaRPr lang="en-US" sz="1600" dirty="0" smtClean="0"/>
          </a:p>
          <a:p>
            <a:r>
              <a:rPr lang="en-US" sz="1600" dirty="0" smtClean="0"/>
              <a:t>Not a good model for complex and object-oriented projects.</a:t>
            </a:r>
            <a:endParaRPr lang="en-US" sz="1600" dirty="0" smtClean="0"/>
          </a:p>
          <a:p>
            <a:endParaRPr lang="en-US" sz="1600" dirty="0" smtClean="0"/>
          </a:p>
          <a:p>
            <a:r>
              <a:rPr lang="en-US" sz="1600" dirty="0" smtClean="0"/>
              <a:t>Poor model for long and ongoing projects.</a:t>
            </a:r>
            <a:endParaRPr lang="en-US" sz="1600" dirty="0" smtClean="0"/>
          </a:p>
          <a:p>
            <a:endParaRPr lang="en-US" sz="1600" dirty="0" smtClean="0"/>
          </a:p>
          <a:p>
            <a:r>
              <a:rPr lang="en-US" sz="1600" dirty="0" smtClean="0"/>
              <a:t>Not suitable for the projects where requirements are at a moderate to high risk of changing.</a:t>
            </a:r>
            <a:endParaRPr lang="en-US" sz="1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09600"/>
            <a:ext cx="1082412" cy="349968"/>
          </a:xfrm>
          <a:prstGeom prst="rect">
            <a:avLst/>
          </a:prstGeom>
        </p:spPr>
        <p:txBody>
          <a:bodyPr wrap="none">
            <a:spAutoFit/>
          </a:bodyPr>
          <a:lstStyle/>
          <a:p>
            <a:r>
              <a:rPr lang="en-US" b="1" dirty="0" smtClean="0"/>
              <a:t>V-model</a:t>
            </a:r>
            <a:endParaRPr lang="en-US" b="1" dirty="0"/>
          </a:p>
        </p:txBody>
      </p:sp>
      <p:pic>
        <p:nvPicPr>
          <p:cNvPr id="68610" name="Picture 2"/>
          <p:cNvPicPr>
            <a:picLocks noChangeAspect="1" noChangeArrowheads="1"/>
          </p:cNvPicPr>
          <p:nvPr/>
        </p:nvPicPr>
        <p:blipFill>
          <a:blip r:embed="rId1"/>
          <a:srcRect/>
          <a:stretch>
            <a:fillRect/>
          </a:stretch>
        </p:blipFill>
        <p:spPr bwMode="auto">
          <a:xfrm>
            <a:off x="2209800" y="2057400"/>
            <a:ext cx="4619625" cy="4227195"/>
          </a:xfrm>
          <a:prstGeom prst="rect">
            <a:avLst/>
          </a:prstGeom>
          <a:noFill/>
          <a:ln w="9525">
            <a:noFill/>
            <a:miter lim="800000"/>
            <a:headEnd/>
            <a:tailEnd/>
          </a:ln>
          <a:effectLst/>
        </p:spPr>
      </p:pic>
      <p:sp>
        <p:nvSpPr>
          <p:cNvPr id="3" name="Text Box 2"/>
          <p:cNvSpPr txBox="1"/>
          <p:nvPr/>
        </p:nvSpPr>
        <p:spPr>
          <a:xfrm>
            <a:off x="533400" y="1143000"/>
            <a:ext cx="8742680" cy="1287145"/>
          </a:xfrm>
          <a:prstGeom prst="rect">
            <a:avLst/>
          </a:prstGeom>
          <a:noFill/>
        </p:spPr>
        <p:txBody>
          <a:bodyPr wrap="square" rtlCol="0" anchor="t">
            <a:noAutofit/>
          </a:bodyPr>
          <a:p>
            <a:pPr marL="0" marR="0" lvl="0" indent="0" algn="l" defTabSz="914400" rtl="0" eaLnBrk="1" fontAlgn="base" latinLnBrk="0" hangingPunct="1">
              <a:lnSpc>
                <a:spcPct val="100000"/>
              </a:lnSpc>
              <a:spcBef>
                <a:spcPct val="0"/>
              </a:spcBef>
              <a:spcAft>
                <a:spcPct val="0"/>
              </a:spcAft>
              <a:buClrTx/>
              <a:buSzTx/>
              <a:buFontTx/>
              <a:buNone/>
            </a:pPr>
            <a:r>
              <a:rPr lang="en-US" sz="1600" dirty="0" smtClean="0">
                <a:ln>
                  <a:noFill/>
                </a:ln>
                <a:solidFill>
                  <a:srgbClr val="333333"/>
                </a:solidFill>
                <a:effectLst/>
                <a:latin typeface="Candara" panose="020E0502030303020204" charset="0"/>
                <a:cs typeface="Candara" panose="020E0502030303020204" charset="0"/>
                <a:sym typeface="+mn-ea"/>
              </a:rPr>
              <a:t>V- model means Verification and Validation model. Just like the </a:t>
            </a:r>
            <a:r>
              <a:rPr lang="en-US" sz="1600" b="1" dirty="0" smtClean="0">
                <a:ln>
                  <a:noFill/>
                </a:ln>
                <a:solidFill>
                  <a:srgbClr val="CF4344"/>
                </a:solidFill>
                <a:effectLst/>
                <a:latin typeface="Candara" panose="020E0502030303020204" charset="0"/>
                <a:cs typeface="Candara" panose="020E0502030303020204" charset="0"/>
                <a:sym typeface="+mn-ea"/>
              </a:rPr>
              <a:t>waterfall model</a:t>
            </a:r>
            <a:r>
              <a:rPr lang="en-US" sz="1600" dirty="0" smtClean="0">
                <a:solidFill>
                  <a:srgbClr val="333333"/>
                </a:solidFill>
                <a:latin typeface="Candara" panose="020E0502030303020204" charset="0"/>
                <a:cs typeface="Candara" panose="020E0502030303020204" charset="0"/>
                <a:sym typeface="+mn-ea"/>
              </a:rPr>
              <a:t> ,</a:t>
            </a:r>
            <a:r>
              <a:rPr lang="en-US" sz="1600" dirty="0" smtClean="0">
                <a:ln>
                  <a:noFill/>
                </a:ln>
                <a:solidFill>
                  <a:srgbClr val="333333"/>
                </a:solidFill>
                <a:effectLst/>
                <a:latin typeface="Candara" panose="020E0502030303020204" charset="0"/>
                <a:cs typeface="Candara" panose="020E0502030303020204" charset="0"/>
                <a:sym typeface="+mn-ea"/>
              </a:rPr>
              <a:t>Each phase</a:t>
            </a:r>
            <a:endParaRPr kumimoji="0" lang="en-US" sz="1600" b="0" i="0" u="none" strike="noStrike" cap="none" normalizeH="0" baseline="0" dirty="0" smtClean="0">
              <a:ln>
                <a:noFill/>
              </a:ln>
              <a:solidFill>
                <a:srgbClr val="333333"/>
              </a:solidFill>
              <a:effectLst/>
              <a:latin typeface="Candara" panose="020E0502030303020204" charset="0"/>
              <a:cs typeface="Candara" panose="020E0502030303020204" charset="0"/>
            </a:endParaRPr>
          </a:p>
          <a:p>
            <a:pPr marL="0" marR="0" lvl="0" indent="0" algn="l" defTabSz="914400" rtl="0" eaLnBrk="1" fontAlgn="base" latinLnBrk="0" hangingPunct="1">
              <a:lnSpc>
                <a:spcPct val="100000"/>
              </a:lnSpc>
              <a:spcBef>
                <a:spcPct val="0"/>
              </a:spcBef>
              <a:spcAft>
                <a:spcPct val="0"/>
              </a:spcAft>
              <a:buClrTx/>
              <a:buSzTx/>
              <a:buFontTx/>
              <a:buNone/>
            </a:pPr>
            <a:r>
              <a:rPr lang="en-US" sz="1600" dirty="0" smtClean="0">
                <a:ln>
                  <a:noFill/>
                </a:ln>
                <a:solidFill>
                  <a:srgbClr val="333333"/>
                </a:solidFill>
                <a:effectLst/>
                <a:latin typeface="Candara" panose="020E0502030303020204" charset="0"/>
                <a:cs typeface="Candara" panose="020E0502030303020204" charset="0"/>
                <a:sym typeface="+mn-ea"/>
              </a:rPr>
              <a:t> must be completed before the next phase begins. Testing of the product is planned in parallel</a:t>
            </a:r>
            <a:endParaRPr kumimoji="0" lang="en-US" sz="1600" b="0" i="0" u="none" strike="noStrike" cap="none" normalizeH="0" baseline="0" dirty="0" smtClean="0">
              <a:ln>
                <a:noFill/>
              </a:ln>
              <a:solidFill>
                <a:srgbClr val="333333"/>
              </a:solidFill>
              <a:effectLst/>
              <a:latin typeface="Candara" panose="020E0502030303020204" charset="0"/>
              <a:cs typeface="Candara" panose="020E0502030303020204" charset="0"/>
            </a:endParaRPr>
          </a:p>
          <a:p>
            <a:pPr marL="0" marR="0" lvl="0" indent="0" algn="l" defTabSz="914400" rtl="0" eaLnBrk="1" fontAlgn="base" latinLnBrk="0" hangingPunct="1">
              <a:lnSpc>
                <a:spcPct val="100000"/>
              </a:lnSpc>
              <a:spcBef>
                <a:spcPct val="0"/>
              </a:spcBef>
              <a:spcAft>
                <a:spcPct val="0"/>
              </a:spcAft>
              <a:buClrTx/>
              <a:buSzTx/>
              <a:buFontTx/>
              <a:buNone/>
            </a:pPr>
            <a:r>
              <a:rPr lang="en-US" sz="1600" dirty="0" smtClean="0">
                <a:ln>
                  <a:noFill/>
                </a:ln>
                <a:solidFill>
                  <a:srgbClr val="333333"/>
                </a:solidFill>
                <a:effectLst/>
                <a:latin typeface="Candara" panose="020E0502030303020204" charset="0"/>
                <a:cs typeface="Candara" panose="020E0502030303020204" charset="0"/>
                <a:sym typeface="+mn-ea"/>
              </a:rPr>
              <a:t> with a corresponding phase of development in </a:t>
            </a:r>
            <a:r>
              <a:rPr lang="en-US" sz="1600" b="1" dirty="0" smtClean="0">
                <a:ln>
                  <a:noFill/>
                </a:ln>
                <a:solidFill>
                  <a:srgbClr val="333333"/>
                </a:solidFill>
                <a:effectLst/>
                <a:latin typeface="Candara" panose="020E0502030303020204" charset="0"/>
                <a:cs typeface="Candara" panose="020E0502030303020204" charset="0"/>
                <a:sym typeface="+mn-ea"/>
              </a:rPr>
              <a:t>V-model</a:t>
            </a:r>
            <a:r>
              <a:rPr lang="en-US" sz="1600" dirty="0" smtClean="0">
                <a:ln>
                  <a:noFill/>
                </a:ln>
                <a:solidFill>
                  <a:srgbClr val="333333"/>
                </a:solidFill>
                <a:effectLst/>
                <a:latin typeface="Candara" panose="020E0502030303020204" charset="0"/>
                <a:cs typeface="Candara" panose="020E0502030303020204" charset="0"/>
                <a:sym typeface="+mn-ea"/>
              </a:rPr>
              <a:t>.</a:t>
            </a:r>
            <a:endParaRPr lang="en-US" altLang="en-US" sz="1600" dirty="0" smtClean="0">
              <a:ln>
                <a:noFill/>
              </a:ln>
              <a:solidFill>
                <a:srgbClr val="333333"/>
              </a:solidFill>
              <a:effectLst/>
              <a:latin typeface="Candara" panose="020E0502030303020204" charset="0"/>
              <a:cs typeface="Candara" panose="020E0502030303020204" charset="0"/>
              <a:sym typeface="+mn-ea"/>
            </a:endParaRPr>
          </a:p>
        </p:txBody>
      </p:sp>
      <p:sp>
        <p:nvSpPr>
          <p:cNvPr id="4" name="Text Box 3"/>
          <p:cNvSpPr txBox="1"/>
          <p:nvPr/>
        </p:nvSpPr>
        <p:spPr>
          <a:xfrm>
            <a:off x="3048000" y="960120"/>
            <a:ext cx="2995930" cy="473710"/>
          </a:xfrm>
          <a:prstGeom prst="rect">
            <a:avLst/>
          </a:prstGeom>
          <a:noFill/>
        </p:spPr>
        <p:txBody>
          <a:bodyPr wrap="square" rtlCol="0">
            <a:noAutofit/>
          </a:bodyPr>
          <a:p>
            <a:endParaRPr lang="en-GB"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371600"/>
            <a:ext cx="8001000" cy="2382062"/>
          </a:xfrm>
          <a:prstGeom prst="rect">
            <a:avLst/>
          </a:prstGeom>
        </p:spPr>
        <p:txBody>
          <a:bodyPr wrap="square">
            <a:spAutoFit/>
          </a:bodyPr>
          <a:lstStyle/>
          <a:p>
            <a:r>
              <a:rPr lang="en-US" sz="1600" dirty="0" smtClean="0"/>
              <a:t>Simple and easy to use.</a:t>
            </a:r>
            <a:endParaRPr lang="en-US" sz="1600" dirty="0" smtClean="0"/>
          </a:p>
          <a:p>
            <a:endParaRPr lang="en-US" sz="1600" dirty="0" smtClean="0"/>
          </a:p>
          <a:p>
            <a:r>
              <a:rPr lang="en-US" sz="1600" dirty="0" smtClean="0"/>
              <a:t>Testing activities like planning, test designing happens well before coding. This saves a lot of time. Hence higher chance of success over the waterfall model.</a:t>
            </a:r>
            <a:endParaRPr lang="en-US" sz="1600" dirty="0" smtClean="0"/>
          </a:p>
          <a:p>
            <a:endParaRPr lang="en-US" sz="1600" dirty="0" smtClean="0"/>
          </a:p>
          <a:p>
            <a:r>
              <a:rPr lang="en-US" sz="1600" dirty="0" smtClean="0"/>
              <a:t>Proactive defect tracking – that is defects are found at early stage.</a:t>
            </a:r>
            <a:endParaRPr lang="en-US" sz="1600" dirty="0" smtClean="0"/>
          </a:p>
          <a:p>
            <a:endParaRPr lang="en-US" sz="1600" dirty="0" smtClean="0"/>
          </a:p>
          <a:p>
            <a:r>
              <a:rPr lang="en-US" sz="1600" dirty="0" smtClean="0"/>
              <a:t>Avoids the downward flow of the defects.</a:t>
            </a:r>
            <a:endParaRPr lang="en-US" sz="1600" dirty="0" smtClean="0"/>
          </a:p>
          <a:p>
            <a:endParaRPr lang="en-US" sz="1600" dirty="0" smtClean="0"/>
          </a:p>
          <a:p>
            <a:r>
              <a:rPr lang="en-US" sz="1600" dirty="0" smtClean="0"/>
              <a:t>Works well for small projects where requirements are easily understood.</a:t>
            </a:r>
            <a:endParaRPr lang="en-US" sz="1600" dirty="0"/>
          </a:p>
        </p:txBody>
      </p:sp>
      <p:sp>
        <p:nvSpPr>
          <p:cNvPr id="3" name="Rectangle 2"/>
          <p:cNvSpPr/>
          <p:nvPr/>
        </p:nvSpPr>
        <p:spPr>
          <a:xfrm>
            <a:off x="457200" y="685800"/>
            <a:ext cx="2813655" cy="349968"/>
          </a:xfrm>
          <a:prstGeom prst="rect">
            <a:avLst/>
          </a:prstGeom>
        </p:spPr>
        <p:txBody>
          <a:bodyPr wrap="none">
            <a:spAutoFit/>
          </a:bodyPr>
          <a:lstStyle/>
          <a:p>
            <a:r>
              <a:rPr lang="en-US" b="1" dirty="0" smtClean="0"/>
              <a:t>Advantages of V-model:</a:t>
            </a:r>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8460105" cy="4898390"/>
          </a:xfrm>
          <a:prstGeom prst="rect">
            <a:avLst/>
          </a:prstGeom>
        </p:spPr>
        <p:txBody>
          <a:bodyPr wrap="square">
            <a:spAutoFit/>
          </a:bodyPr>
          <a:lstStyle/>
          <a:p>
            <a:r>
              <a:rPr lang="en-US" altLang="en-GB" sz="1600" b="1" dirty="0"/>
              <a:t>Rigid Process</a:t>
            </a:r>
            <a:endParaRPr lang="en-US" altLang="en-GB" sz="1600" b="1" dirty="0"/>
          </a:p>
          <a:p>
            <a:endParaRPr lang="en-US" altLang="en-GB" sz="1600" dirty="0"/>
          </a:p>
          <a:p>
            <a:r>
              <a:rPr lang="en-US" altLang="en-GB" sz="1600" dirty="0"/>
              <a:t>Once a phase is completed, it is difficult to go back and make changes.</a:t>
            </a:r>
            <a:endParaRPr lang="en-US" altLang="en-GB" sz="1600" dirty="0"/>
          </a:p>
          <a:p>
            <a:endParaRPr lang="en-US" altLang="en-GB" sz="1600" b="1" dirty="0"/>
          </a:p>
          <a:p>
            <a:r>
              <a:rPr lang="en-US" altLang="en-GB" sz="1600" b="1" dirty="0"/>
              <a:t>Not Suitable for Changing Requirements</a:t>
            </a:r>
            <a:endParaRPr lang="en-US" altLang="en-GB" sz="1600" b="1" dirty="0"/>
          </a:p>
          <a:p>
            <a:pPr lvl="1"/>
            <a:r>
              <a:rPr lang="en-US" altLang="en-GB" sz="1600" dirty="0"/>
              <a:t>Frequent requirement changes are difficult and expensive to accommodate.</a:t>
            </a:r>
            <a:endParaRPr lang="en-US" altLang="en-GB" sz="1600" dirty="0"/>
          </a:p>
          <a:p>
            <a:endParaRPr lang="en-US" altLang="en-GB" sz="1600" dirty="0"/>
          </a:p>
          <a:p>
            <a:r>
              <a:rPr lang="en-US" altLang="en-GB" sz="1600" b="1" dirty="0"/>
              <a:t>Late Working Software</a:t>
            </a:r>
            <a:endParaRPr lang="en-US" altLang="en-GB" sz="1600" b="1" dirty="0"/>
          </a:p>
          <a:p>
            <a:pPr indent="457200"/>
            <a:r>
              <a:rPr lang="en-US" altLang="en-GB" sz="1600" dirty="0"/>
              <a:t>A working product is available only after most development is completed.</a:t>
            </a:r>
            <a:endParaRPr lang="en-US" altLang="en-GB" sz="1600" dirty="0"/>
          </a:p>
          <a:p>
            <a:endParaRPr lang="en-US" altLang="en-GB" sz="1600" dirty="0"/>
          </a:p>
          <a:p>
            <a:r>
              <a:rPr lang="en-US" altLang="en-GB" sz="1600" b="1" dirty="0"/>
              <a:t>High Documentation</a:t>
            </a:r>
            <a:endParaRPr lang="en-US" altLang="en-GB" sz="1600" b="1" dirty="0"/>
          </a:p>
          <a:p>
            <a:pPr indent="457200"/>
            <a:r>
              <a:rPr lang="en-US" altLang="en-GB" sz="1600" dirty="0"/>
              <a:t>Requires extensive documentation at every phase, which increases effort and time.</a:t>
            </a:r>
            <a:endParaRPr lang="en-US" altLang="en-GB" sz="1600" dirty="0"/>
          </a:p>
          <a:p>
            <a:endParaRPr lang="en-US" altLang="en-GB" sz="1600" b="1" dirty="0"/>
          </a:p>
          <a:p>
            <a:r>
              <a:rPr lang="en-US" altLang="en-GB" sz="1600" b="1" dirty="0"/>
              <a:t>Time-Consuming</a:t>
            </a:r>
            <a:endParaRPr lang="en-US" altLang="en-GB" sz="1600" b="1" dirty="0"/>
          </a:p>
          <a:p>
            <a:pPr indent="457200"/>
            <a:r>
              <a:rPr lang="en-US" altLang="en-GB" sz="1600" dirty="0"/>
              <a:t>Each phase must be completed before moving to the next, making the process slower.</a:t>
            </a:r>
            <a:endParaRPr lang="en-US" altLang="en-GB" sz="1600" dirty="0"/>
          </a:p>
          <a:p>
            <a:endParaRPr lang="en-US" altLang="en-GB" sz="1600" dirty="0"/>
          </a:p>
          <a:p>
            <a:r>
              <a:rPr lang="en-US" altLang="en-GB" sz="1600" b="1" dirty="0"/>
              <a:t>Costly for Requirement Changes</a:t>
            </a:r>
            <a:endParaRPr lang="en-US" altLang="en-GB" sz="1600" b="1" dirty="0"/>
          </a:p>
          <a:p>
            <a:pPr indent="457200"/>
            <a:r>
              <a:rPr lang="en-US" altLang="en-GB" sz="1600" dirty="0"/>
              <a:t>Changes made during development or testing can significantly increase cost.</a:t>
            </a:r>
            <a:endParaRPr lang="en-US" altLang="en-GB" sz="1600" dirty="0"/>
          </a:p>
          <a:p>
            <a:r>
              <a:rPr lang="en-US" altLang="en-GB" sz="1600" b="1" dirty="0"/>
              <a:t>Limited Customer Involvement</a:t>
            </a:r>
            <a:endParaRPr lang="en-US" altLang="en-GB" sz="1600" b="1" dirty="0"/>
          </a:p>
          <a:p>
            <a:pPr indent="457200"/>
            <a:r>
              <a:rPr lang="en-US" altLang="en-GB" sz="1600" dirty="0"/>
              <a:t>Customers are mainly involved during the requirements phase and final acceptance </a:t>
            </a:r>
            <a:endParaRPr lang="en-US" altLang="en-GB" sz="1600" dirty="0"/>
          </a:p>
          <a:p>
            <a:pPr indent="457200"/>
            <a:r>
              <a:rPr lang="en-US" altLang="en-GB" sz="1600" dirty="0"/>
              <a:t>testing, with limited interaction in between.</a:t>
            </a:r>
            <a:endParaRPr lang="en-US" altLang="en-GB" sz="1600" dirty="0"/>
          </a:p>
        </p:txBody>
      </p:sp>
      <p:sp>
        <p:nvSpPr>
          <p:cNvPr id="3" name="Rectangle 2"/>
          <p:cNvSpPr/>
          <p:nvPr/>
        </p:nvSpPr>
        <p:spPr>
          <a:xfrm>
            <a:off x="457200" y="685800"/>
            <a:ext cx="3134256" cy="349968"/>
          </a:xfrm>
          <a:prstGeom prst="rect">
            <a:avLst/>
          </a:prstGeom>
        </p:spPr>
        <p:txBody>
          <a:bodyPr wrap="none">
            <a:spAutoFit/>
          </a:bodyPr>
          <a:lstStyle/>
          <a:p>
            <a:r>
              <a:rPr lang="en-US" b="1" dirty="0" smtClean="0"/>
              <a:t>Disadvantages of V-model:</a:t>
            </a:r>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0" name="Picture 2"/>
          <p:cNvPicPr>
            <a:picLocks noChangeAspect="1" noChangeArrowheads="1"/>
          </p:cNvPicPr>
          <p:nvPr/>
        </p:nvPicPr>
        <p:blipFill>
          <a:blip r:embed="rId1"/>
          <a:srcRect/>
          <a:stretch>
            <a:fillRect/>
          </a:stretch>
        </p:blipFill>
        <p:spPr bwMode="auto">
          <a:xfrm>
            <a:off x="0" y="304800"/>
            <a:ext cx="8991600" cy="59436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4" name="Picture 2"/>
          <p:cNvPicPr>
            <a:picLocks noChangeAspect="1" noChangeArrowheads="1"/>
          </p:cNvPicPr>
          <p:nvPr/>
        </p:nvPicPr>
        <p:blipFill>
          <a:blip r:embed="rId1"/>
          <a:srcRect/>
          <a:stretch>
            <a:fillRect/>
          </a:stretch>
        </p:blipFill>
        <p:spPr bwMode="auto">
          <a:xfrm>
            <a:off x="0" y="76200"/>
            <a:ext cx="8915400" cy="60960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8810" y="659765"/>
            <a:ext cx="3048000" cy="347980"/>
          </a:xfrm>
          <a:prstGeom prst="rect">
            <a:avLst/>
          </a:prstGeom>
          <a:noFill/>
        </p:spPr>
        <p:txBody>
          <a:bodyPr wrap="square" rtlCol="0">
            <a:spAutoFit/>
          </a:bodyPr>
          <a:p>
            <a:r>
              <a:rPr lang="en-US" altLang="en-GB" b="1"/>
              <a:t>Agile Principles</a:t>
            </a:r>
            <a:endParaRPr lang="en-US" altLang="en-GB" b="1"/>
          </a:p>
        </p:txBody>
      </p:sp>
      <p:pic>
        <p:nvPicPr>
          <p:cNvPr id="1027" name="Picture 3"/>
          <p:cNvPicPr>
            <a:picLocks noChangeAspect="1" noChangeArrowheads="1"/>
          </p:cNvPicPr>
          <p:nvPr/>
        </p:nvPicPr>
        <p:blipFill>
          <a:blip r:embed="rId1"/>
          <a:srcRect/>
          <a:stretch>
            <a:fillRect/>
          </a:stretch>
        </p:blipFill>
        <p:spPr bwMode="auto">
          <a:xfrm>
            <a:off x="533400" y="1447800"/>
            <a:ext cx="7010400" cy="44958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8810" y="659765"/>
            <a:ext cx="3048000" cy="347980"/>
          </a:xfrm>
          <a:prstGeom prst="rect">
            <a:avLst/>
          </a:prstGeom>
          <a:noFill/>
        </p:spPr>
        <p:txBody>
          <a:bodyPr wrap="square" rtlCol="0">
            <a:spAutoFit/>
          </a:bodyPr>
          <a:p>
            <a:r>
              <a:rPr lang="en-US" altLang="en-GB" b="1"/>
              <a:t>Agile Principles</a:t>
            </a:r>
            <a:endParaRPr lang="en-US" altLang="en-GB" b="1"/>
          </a:p>
        </p:txBody>
      </p:sp>
      <p:pic>
        <p:nvPicPr>
          <p:cNvPr id="2050" name="Picture 2"/>
          <p:cNvPicPr>
            <a:picLocks noChangeAspect="1" noChangeArrowheads="1"/>
          </p:cNvPicPr>
          <p:nvPr/>
        </p:nvPicPr>
        <p:blipFill>
          <a:blip r:embed="rId1"/>
          <a:srcRect/>
          <a:stretch>
            <a:fillRect/>
          </a:stretch>
        </p:blipFill>
        <p:spPr bwMode="auto">
          <a:xfrm>
            <a:off x="381000" y="1219200"/>
            <a:ext cx="7848600" cy="504725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0045" y="659765"/>
            <a:ext cx="3326765" cy="347980"/>
          </a:xfrm>
          <a:prstGeom prst="rect">
            <a:avLst/>
          </a:prstGeom>
          <a:noFill/>
        </p:spPr>
        <p:txBody>
          <a:bodyPr wrap="square" rtlCol="0">
            <a:spAutoFit/>
          </a:bodyPr>
          <a:p>
            <a:r>
              <a:rPr lang="en-US" altLang="en-GB" b="1"/>
              <a:t>Agile Principles</a:t>
            </a:r>
            <a:endParaRPr lang="en-US" altLang="en-GB" b="1"/>
          </a:p>
        </p:txBody>
      </p:sp>
      <p:pic>
        <p:nvPicPr>
          <p:cNvPr id="3074" name="Picture 2"/>
          <p:cNvPicPr>
            <a:picLocks noChangeAspect="1" noChangeArrowheads="1"/>
          </p:cNvPicPr>
          <p:nvPr/>
        </p:nvPicPr>
        <p:blipFill>
          <a:blip r:embed="rId1"/>
          <a:srcRect/>
          <a:stretch>
            <a:fillRect/>
          </a:stretch>
        </p:blipFill>
        <p:spPr bwMode="auto">
          <a:xfrm>
            <a:off x="228600" y="1295400"/>
            <a:ext cx="8302173" cy="427355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0045" y="659765"/>
            <a:ext cx="3326765" cy="347980"/>
          </a:xfrm>
          <a:prstGeom prst="rect">
            <a:avLst/>
          </a:prstGeom>
          <a:noFill/>
        </p:spPr>
        <p:txBody>
          <a:bodyPr wrap="square" rtlCol="0">
            <a:spAutoFit/>
          </a:bodyPr>
          <a:p>
            <a:r>
              <a:rPr lang="en-US" altLang="en-GB" b="1"/>
              <a:t>Agile Principles</a:t>
            </a:r>
            <a:endParaRPr lang="en-US" altLang="en-GB" b="1"/>
          </a:p>
        </p:txBody>
      </p:sp>
      <p:pic>
        <p:nvPicPr>
          <p:cNvPr id="4098" name="Picture 2"/>
          <p:cNvPicPr>
            <a:picLocks noChangeAspect="1" noChangeArrowheads="1"/>
          </p:cNvPicPr>
          <p:nvPr/>
        </p:nvPicPr>
        <p:blipFill>
          <a:blip r:embed="rId1"/>
          <a:srcRect/>
          <a:stretch>
            <a:fillRect/>
          </a:stretch>
        </p:blipFill>
        <p:spPr bwMode="auto">
          <a:xfrm>
            <a:off x="152400" y="1295400"/>
            <a:ext cx="7377856" cy="44450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1145" y="659765"/>
            <a:ext cx="3415665" cy="347980"/>
          </a:xfrm>
          <a:prstGeom prst="rect">
            <a:avLst/>
          </a:prstGeom>
          <a:noFill/>
        </p:spPr>
        <p:txBody>
          <a:bodyPr wrap="square" rtlCol="0">
            <a:spAutoFit/>
          </a:bodyPr>
          <a:p>
            <a:r>
              <a:rPr lang="en-US" altLang="en-GB" b="1"/>
              <a:t>Agile Principles</a:t>
            </a:r>
            <a:endParaRPr lang="en-US" altLang="en-GB" b="1"/>
          </a:p>
        </p:txBody>
      </p:sp>
      <p:pic>
        <p:nvPicPr>
          <p:cNvPr id="5123" name="Picture 3"/>
          <p:cNvPicPr>
            <a:picLocks noChangeAspect="1" noChangeArrowheads="1"/>
          </p:cNvPicPr>
          <p:nvPr/>
        </p:nvPicPr>
        <p:blipFill>
          <a:blip r:embed="rId1"/>
          <a:srcRect/>
          <a:stretch>
            <a:fillRect/>
          </a:stretch>
        </p:blipFill>
        <p:spPr bwMode="auto">
          <a:xfrm>
            <a:off x="360045" y="1295400"/>
            <a:ext cx="7804785" cy="37401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1145" y="659765"/>
            <a:ext cx="3415665" cy="347980"/>
          </a:xfrm>
          <a:prstGeom prst="rect">
            <a:avLst/>
          </a:prstGeom>
          <a:noFill/>
        </p:spPr>
        <p:txBody>
          <a:bodyPr wrap="square" rtlCol="0">
            <a:spAutoFit/>
          </a:bodyPr>
          <a:p>
            <a:r>
              <a:rPr lang="en-US" altLang="en-GB" b="1"/>
              <a:t>Agile Principles</a:t>
            </a:r>
            <a:endParaRPr lang="en-US" altLang="en-GB" b="1"/>
          </a:p>
        </p:txBody>
      </p:sp>
      <p:pic>
        <p:nvPicPr>
          <p:cNvPr id="6146" name="Picture 2"/>
          <p:cNvPicPr>
            <a:picLocks noChangeAspect="1" noChangeArrowheads="1"/>
          </p:cNvPicPr>
          <p:nvPr/>
        </p:nvPicPr>
        <p:blipFill>
          <a:blip r:embed="rId1"/>
          <a:srcRect/>
          <a:stretch>
            <a:fillRect/>
          </a:stretch>
        </p:blipFill>
        <p:spPr bwMode="auto">
          <a:xfrm>
            <a:off x="228600" y="1143000"/>
            <a:ext cx="8133127" cy="43973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1145" y="659765"/>
            <a:ext cx="3415665" cy="347980"/>
          </a:xfrm>
          <a:prstGeom prst="rect">
            <a:avLst/>
          </a:prstGeom>
          <a:noFill/>
        </p:spPr>
        <p:txBody>
          <a:bodyPr wrap="square" rtlCol="0">
            <a:spAutoFit/>
          </a:bodyPr>
          <a:p>
            <a:r>
              <a:rPr lang="en-US" altLang="en-GB" b="1"/>
              <a:t>Agile Principles</a:t>
            </a:r>
            <a:endParaRPr lang="en-US" altLang="en-GB" b="1"/>
          </a:p>
        </p:txBody>
      </p:sp>
      <p:pic>
        <p:nvPicPr>
          <p:cNvPr id="7170" name="Picture 2"/>
          <p:cNvPicPr>
            <a:picLocks noChangeAspect="1" noChangeArrowheads="1"/>
          </p:cNvPicPr>
          <p:nvPr/>
        </p:nvPicPr>
        <p:blipFill>
          <a:blip r:embed="rId1"/>
          <a:srcRect/>
          <a:stretch>
            <a:fillRect/>
          </a:stretch>
        </p:blipFill>
        <p:spPr bwMode="auto">
          <a:xfrm>
            <a:off x="0" y="1066800"/>
            <a:ext cx="8046869" cy="45339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1145" y="659765"/>
            <a:ext cx="3415665" cy="347980"/>
          </a:xfrm>
          <a:prstGeom prst="rect">
            <a:avLst/>
          </a:prstGeom>
          <a:noFill/>
        </p:spPr>
        <p:txBody>
          <a:bodyPr wrap="square" rtlCol="0">
            <a:spAutoFit/>
          </a:bodyPr>
          <a:p>
            <a:r>
              <a:rPr lang="en-US" altLang="en-GB" b="1"/>
              <a:t>Agile Principles</a:t>
            </a:r>
            <a:endParaRPr lang="en-US" altLang="en-GB" b="1"/>
          </a:p>
        </p:txBody>
      </p:sp>
      <p:pic>
        <p:nvPicPr>
          <p:cNvPr id="8194" name="Picture 2"/>
          <p:cNvPicPr>
            <a:picLocks noChangeAspect="1" noChangeArrowheads="1"/>
          </p:cNvPicPr>
          <p:nvPr/>
        </p:nvPicPr>
        <p:blipFill>
          <a:blip r:embed="rId1"/>
          <a:srcRect/>
          <a:stretch>
            <a:fillRect/>
          </a:stretch>
        </p:blipFill>
        <p:spPr bwMode="auto">
          <a:xfrm>
            <a:off x="152083" y="1295083"/>
            <a:ext cx="7820025" cy="460057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1145" y="659765"/>
            <a:ext cx="3415665" cy="347980"/>
          </a:xfrm>
          <a:prstGeom prst="rect">
            <a:avLst/>
          </a:prstGeom>
          <a:noFill/>
        </p:spPr>
        <p:txBody>
          <a:bodyPr wrap="square" rtlCol="0">
            <a:spAutoFit/>
          </a:bodyPr>
          <a:p>
            <a:r>
              <a:rPr lang="en-US" altLang="en-GB" b="1"/>
              <a:t>Agile Principles</a:t>
            </a:r>
            <a:endParaRPr lang="en-US" altLang="en-GB" b="1"/>
          </a:p>
        </p:txBody>
      </p:sp>
      <p:pic>
        <p:nvPicPr>
          <p:cNvPr id="9218" name="Picture 2"/>
          <p:cNvPicPr>
            <a:picLocks noChangeAspect="1" noChangeArrowheads="1"/>
          </p:cNvPicPr>
          <p:nvPr/>
        </p:nvPicPr>
        <p:blipFill>
          <a:blip r:embed="rId1"/>
          <a:srcRect/>
          <a:stretch>
            <a:fillRect/>
          </a:stretch>
        </p:blipFill>
        <p:spPr bwMode="auto">
          <a:xfrm>
            <a:off x="75883" y="1142683"/>
            <a:ext cx="7705725" cy="492442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1145" y="659765"/>
            <a:ext cx="3415665" cy="347980"/>
          </a:xfrm>
          <a:prstGeom prst="rect">
            <a:avLst/>
          </a:prstGeom>
          <a:noFill/>
        </p:spPr>
        <p:txBody>
          <a:bodyPr wrap="square" rtlCol="0">
            <a:spAutoFit/>
          </a:bodyPr>
          <a:p>
            <a:r>
              <a:rPr lang="en-US" altLang="en-GB" b="1"/>
              <a:t>Agile Principles</a:t>
            </a:r>
            <a:endParaRPr lang="en-US" altLang="en-GB" b="1"/>
          </a:p>
        </p:txBody>
      </p:sp>
      <p:pic>
        <p:nvPicPr>
          <p:cNvPr id="10242" name="Picture 2"/>
          <p:cNvPicPr>
            <a:picLocks noChangeAspect="1" noChangeArrowheads="1"/>
          </p:cNvPicPr>
          <p:nvPr/>
        </p:nvPicPr>
        <p:blipFill>
          <a:blip r:embed="rId1"/>
          <a:srcRect/>
          <a:stretch>
            <a:fillRect/>
          </a:stretch>
        </p:blipFill>
        <p:spPr bwMode="auto">
          <a:xfrm>
            <a:off x="228600" y="1143000"/>
            <a:ext cx="8172450" cy="511302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01650" y="664845"/>
            <a:ext cx="3152140" cy="735330"/>
          </a:xfrm>
          <a:prstGeom prst="rect">
            <a:avLst/>
          </a:prstGeom>
          <a:noFill/>
        </p:spPr>
        <p:txBody>
          <a:bodyPr wrap="square" rtlCol="0">
            <a:noAutofit/>
          </a:bodyPr>
          <a:p>
            <a:r>
              <a:rPr lang="en-US" b="1" dirty="0">
                <a:sym typeface="+mn-ea"/>
              </a:rPr>
              <a:t>Key Agile Concepts</a:t>
            </a:r>
            <a:endParaRPr lang="en-US" b="1" dirty="0"/>
          </a:p>
          <a:p>
            <a:endParaRPr lang="en-GB" altLang="en-US"/>
          </a:p>
        </p:txBody>
      </p:sp>
      <p:sp>
        <p:nvSpPr>
          <p:cNvPr id="4" name="Text Box 3"/>
          <p:cNvSpPr txBox="1"/>
          <p:nvPr/>
        </p:nvSpPr>
        <p:spPr>
          <a:xfrm>
            <a:off x="233680" y="1454150"/>
            <a:ext cx="8910320" cy="4648835"/>
          </a:xfrm>
          <a:prstGeom prst="rect">
            <a:avLst/>
          </a:prstGeom>
        </p:spPr>
        <p:txBody>
          <a:bodyPr>
            <a:noAutofit/>
          </a:bodyPr>
          <a:p>
            <a:pPr>
              <a:spcAft>
                <a:spcPct val="60000"/>
              </a:spcAft>
            </a:pPr>
            <a:r>
              <a:rPr sz="2000" b="1"/>
              <a:t>1. User Stories</a:t>
            </a:r>
            <a:endParaRPr sz="2000" b="1"/>
          </a:p>
          <a:p>
            <a:r>
              <a:rPr sz="2000"/>
              <a:t>A user story is a short description of a feature or requirement from the user's point of view. It explains what the user wants and why they need it. The team creates user stories with the client or product owner before starting development.</a:t>
            </a:r>
            <a:endParaRPr sz="2000"/>
          </a:p>
          <a:p>
            <a:endParaRPr sz="2000"/>
          </a:p>
          <a:p>
            <a:r>
              <a:rPr sz="2000"/>
              <a:t>Example:</a:t>
            </a:r>
            <a:endParaRPr sz="2000"/>
          </a:p>
          <a:p>
            <a:r>
              <a:rPr sz="2000"/>
              <a:t>"As a customer, I want to reset my password so that I can access my account if I forget it."</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01650" y="664845"/>
            <a:ext cx="3152140" cy="735330"/>
          </a:xfrm>
          <a:prstGeom prst="rect">
            <a:avLst/>
          </a:prstGeom>
          <a:noFill/>
        </p:spPr>
        <p:txBody>
          <a:bodyPr wrap="square" rtlCol="0">
            <a:noAutofit/>
          </a:bodyPr>
          <a:p>
            <a:r>
              <a:rPr lang="en-US" b="1" dirty="0">
                <a:sym typeface="+mn-ea"/>
              </a:rPr>
              <a:t>Key Agile Concepts</a:t>
            </a:r>
            <a:endParaRPr lang="en-US" b="1" dirty="0"/>
          </a:p>
          <a:p>
            <a:endParaRPr lang="en-GB" altLang="en-US"/>
          </a:p>
        </p:txBody>
      </p:sp>
      <p:sp>
        <p:nvSpPr>
          <p:cNvPr id="4" name="Text Box 3"/>
          <p:cNvSpPr txBox="1"/>
          <p:nvPr/>
        </p:nvSpPr>
        <p:spPr>
          <a:xfrm>
            <a:off x="233680" y="1454150"/>
            <a:ext cx="8910320" cy="4648835"/>
          </a:xfrm>
          <a:prstGeom prst="rect">
            <a:avLst/>
          </a:prstGeom>
        </p:spPr>
        <p:txBody>
          <a:bodyPr>
            <a:noAutofit/>
          </a:bodyPr>
          <a:p>
            <a:pPr>
              <a:spcAft>
                <a:spcPct val="60000"/>
              </a:spcAft>
            </a:pPr>
            <a:r>
              <a:rPr lang="en-US" altLang="en-GB" sz="2000"/>
              <a:t>Daily Meeting (Daily Scrum)</a:t>
            </a:r>
            <a:endParaRPr lang="en-US" altLang="en-GB" sz="2000"/>
          </a:p>
          <a:p>
            <a:pPr>
              <a:spcAft>
                <a:spcPct val="60000"/>
              </a:spcAft>
            </a:pPr>
            <a:r>
              <a:rPr lang="en-US" altLang="en-GB" sz="2000"/>
              <a:t>A daily meeting is a short meeting held every day at the same time. Team members share what they completed yesterday, what they will work on today, and any obstacles they are facing. This helps the team stay coordinated and resolve issues quickly.</a:t>
            </a:r>
            <a:endParaRPr lang="en-US" altLang="en-GB"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01650" y="664845"/>
            <a:ext cx="3152140" cy="735330"/>
          </a:xfrm>
          <a:prstGeom prst="rect">
            <a:avLst/>
          </a:prstGeom>
          <a:noFill/>
        </p:spPr>
        <p:txBody>
          <a:bodyPr wrap="square" rtlCol="0">
            <a:noAutofit/>
          </a:bodyPr>
          <a:p>
            <a:r>
              <a:rPr lang="en-US" b="1" dirty="0">
                <a:sym typeface="+mn-ea"/>
              </a:rPr>
              <a:t>Key Agile Concepts</a:t>
            </a:r>
            <a:endParaRPr lang="en-US" b="1" dirty="0"/>
          </a:p>
          <a:p>
            <a:endParaRPr lang="en-GB" altLang="en-US"/>
          </a:p>
        </p:txBody>
      </p:sp>
      <p:sp>
        <p:nvSpPr>
          <p:cNvPr id="4" name="Text Box 3"/>
          <p:cNvSpPr txBox="1"/>
          <p:nvPr/>
        </p:nvSpPr>
        <p:spPr>
          <a:xfrm>
            <a:off x="233680" y="1454150"/>
            <a:ext cx="8910320" cy="4648835"/>
          </a:xfrm>
          <a:prstGeom prst="rect">
            <a:avLst/>
          </a:prstGeom>
        </p:spPr>
        <p:txBody>
          <a:bodyPr>
            <a:noAutofit/>
          </a:bodyPr>
          <a:p>
            <a:pPr>
              <a:spcAft>
                <a:spcPct val="60000"/>
              </a:spcAft>
            </a:pPr>
            <a:r>
              <a:rPr lang="en-US" altLang="en-GB" sz="2000"/>
              <a:t>Team</a:t>
            </a:r>
            <a:endParaRPr lang="en-US" altLang="en-GB" sz="2000"/>
          </a:p>
          <a:p>
            <a:pPr>
              <a:spcAft>
                <a:spcPct val="60000"/>
              </a:spcAft>
            </a:pPr>
            <a:r>
              <a:rPr lang="en-US" altLang="en-GB" sz="2000"/>
              <a:t>A team is a small group of people working together on the same project. In Agile, team members usually work full-time, collaborate closely, and are responsible for delivering the project successfully.</a:t>
            </a:r>
            <a:endParaRPr lang="en-US" altLang="en-GB"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01650" y="664845"/>
            <a:ext cx="3152140" cy="735330"/>
          </a:xfrm>
          <a:prstGeom prst="rect">
            <a:avLst/>
          </a:prstGeom>
          <a:noFill/>
        </p:spPr>
        <p:txBody>
          <a:bodyPr wrap="square" rtlCol="0">
            <a:noAutofit/>
          </a:bodyPr>
          <a:p>
            <a:r>
              <a:rPr lang="en-US" b="1" dirty="0">
                <a:sym typeface="+mn-ea"/>
              </a:rPr>
              <a:t>Key Agile Concepts</a:t>
            </a:r>
            <a:endParaRPr lang="en-US" b="1" dirty="0"/>
          </a:p>
          <a:p>
            <a:endParaRPr lang="en-GB" altLang="en-US"/>
          </a:p>
        </p:txBody>
      </p:sp>
      <p:sp>
        <p:nvSpPr>
          <p:cNvPr id="4" name="Text Box 3"/>
          <p:cNvSpPr txBox="1"/>
          <p:nvPr/>
        </p:nvSpPr>
        <p:spPr>
          <a:xfrm>
            <a:off x="233680" y="1454150"/>
            <a:ext cx="8910320" cy="4648835"/>
          </a:xfrm>
          <a:prstGeom prst="rect">
            <a:avLst/>
          </a:prstGeom>
        </p:spPr>
        <p:txBody>
          <a:bodyPr>
            <a:noAutofit/>
          </a:bodyPr>
          <a:p>
            <a:pPr>
              <a:spcAft>
                <a:spcPct val="60000"/>
              </a:spcAft>
            </a:pPr>
            <a:r>
              <a:rPr lang="en-US" altLang="en-GB" sz="2000"/>
              <a:t>Incremental Development</a:t>
            </a:r>
            <a:endParaRPr lang="en-US" altLang="en-GB" sz="2000"/>
          </a:p>
          <a:p>
            <a:pPr>
              <a:spcAft>
                <a:spcPct val="60000"/>
              </a:spcAft>
            </a:pPr>
            <a:r>
              <a:rPr lang="en-US" altLang="en-GB" sz="2000"/>
              <a:t>Incremental development is an approach where the product is built step by step. Each increment adds new, working features that provide value to the user. At the end of every iteration, the product becomes more complete than before.</a:t>
            </a:r>
            <a:endParaRPr lang="en-US" altLang="en-GB" sz="2000"/>
          </a:p>
          <a:p>
            <a:pPr>
              <a:spcAft>
                <a:spcPct val="60000"/>
              </a:spcAft>
            </a:pPr>
            <a:r>
              <a:rPr lang="en-US" altLang="en-GB" sz="2000"/>
              <a:t>Example:</a:t>
            </a:r>
            <a:endParaRPr lang="en-US" altLang="en-GB" sz="2000"/>
          </a:p>
          <a:p>
            <a:pPr lvl="1">
              <a:spcAft>
                <a:spcPct val="60000"/>
              </a:spcAft>
            </a:pPr>
            <a:r>
              <a:rPr lang="en-US" altLang="en-GB" sz="2000"/>
              <a:t>Increment 1: User Login</a:t>
            </a:r>
            <a:endParaRPr lang="en-US" altLang="en-GB" sz="2000"/>
          </a:p>
          <a:p>
            <a:pPr lvl="1">
              <a:spcAft>
                <a:spcPct val="60000"/>
              </a:spcAft>
            </a:pPr>
            <a:r>
              <a:rPr lang="en-US" altLang="en-GB" sz="2000"/>
              <a:t>Increment 2: User Registration</a:t>
            </a:r>
            <a:endParaRPr lang="en-US" altLang="en-GB" sz="2000"/>
          </a:p>
          <a:p>
            <a:pPr lvl="1">
              <a:spcAft>
                <a:spcPct val="60000"/>
              </a:spcAft>
            </a:pPr>
            <a:r>
              <a:rPr lang="en-US" altLang="en-GB" sz="2000"/>
              <a:t>Increment 3: Password Reset</a:t>
            </a:r>
            <a:endParaRPr lang="en-US" altLang="en-GB" sz="2000"/>
          </a:p>
          <a:p>
            <a:pPr lvl="1">
              <a:spcAft>
                <a:spcPct val="60000"/>
              </a:spcAft>
            </a:pPr>
            <a:r>
              <a:rPr lang="en-US" altLang="en-GB" sz="2000"/>
              <a:t>Increment 4: User Profile</a:t>
            </a:r>
            <a:endParaRPr lang="en-US" altLang="en-GB"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01650" y="664845"/>
            <a:ext cx="3152140" cy="735330"/>
          </a:xfrm>
          <a:prstGeom prst="rect">
            <a:avLst/>
          </a:prstGeom>
          <a:noFill/>
        </p:spPr>
        <p:txBody>
          <a:bodyPr wrap="square" rtlCol="0">
            <a:noAutofit/>
          </a:bodyPr>
          <a:p>
            <a:r>
              <a:rPr lang="en-US" b="1" dirty="0">
                <a:sym typeface="+mn-ea"/>
              </a:rPr>
              <a:t>Key Agile Concepts</a:t>
            </a:r>
            <a:endParaRPr lang="en-US" b="1" dirty="0"/>
          </a:p>
          <a:p>
            <a:endParaRPr lang="en-GB" altLang="en-US"/>
          </a:p>
        </p:txBody>
      </p:sp>
      <p:sp>
        <p:nvSpPr>
          <p:cNvPr id="4" name="Text Box 3"/>
          <p:cNvSpPr txBox="1"/>
          <p:nvPr/>
        </p:nvSpPr>
        <p:spPr>
          <a:xfrm>
            <a:off x="233680" y="1454150"/>
            <a:ext cx="8910320" cy="4648835"/>
          </a:xfrm>
          <a:prstGeom prst="rect">
            <a:avLst/>
          </a:prstGeom>
        </p:spPr>
        <p:txBody>
          <a:bodyPr>
            <a:noAutofit/>
          </a:bodyPr>
          <a:p>
            <a:pPr>
              <a:spcAft>
                <a:spcPct val="60000"/>
              </a:spcAft>
            </a:pPr>
            <a:r>
              <a:rPr lang="en-US" altLang="en-GB" sz="2000"/>
              <a:t>Iterative Development</a:t>
            </a:r>
            <a:endParaRPr lang="en-US" altLang="en-GB" sz="2000"/>
          </a:p>
          <a:p>
            <a:pPr>
              <a:spcAft>
                <a:spcPct val="60000"/>
              </a:spcAft>
            </a:pPr>
            <a:r>
              <a:rPr lang="en-US" altLang="en-GB" sz="2000"/>
              <a:t>Iterative development is an approach where the team revisits and improves existing features in every iteration. Instead of building a feature only once, the team continuously refines and enhances it based on feedback.</a:t>
            </a:r>
            <a:endParaRPr lang="en-US" altLang="en-GB" sz="2000"/>
          </a:p>
          <a:p>
            <a:pPr>
              <a:spcAft>
                <a:spcPct val="60000"/>
              </a:spcAft>
            </a:pPr>
            <a:endParaRPr lang="en-US" altLang="en-GB" sz="2000"/>
          </a:p>
          <a:p>
            <a:pPr>
              <a:spcAft>
                <a:spcPct val="60000"/>
              </a:spcAft>
            </a:pPr>
            <a:r>
              <a:rPr lang="en-US" altLang="en-GB" sz="2000"/>
              <a:t>Example:</a:t>
            </a:r>
            <a:endParaRPr lang="en-US" altLang="en-GB" sz="2000"/>
          </a:p>
          <a:p>
            <a:pPr lvl="1">
              <a:spcAft>
                <a:spcPct val="60000"/>
              </a:spcAft>
            </a:pPr>
            <a:r>
              <a:rPr lang="en-US" altLang="en-GB" sz="2000"/>
              <a:t>Iteration 1: Basic Login Page</a:t>
            </a:r>
            <a:endParaRPr lang="en-US" altLang="en-GB" sz="2000"/>
          </a:p>
          <a:p>
            <a:pPr lvl="1">
              <a:spcAft>
                <a:spcPct val="60000"/>
              </a:spcAft>
            </a:pPr>
            <a:r>
              <a:rPr lang="en-US" altLang="en-GB" sz="2000"/>
              <a:t>Iteration 2: Add Remember Me option</a:t>
            </a:r>
            <a:endParaRPr lang="en-US" altLang="en-GB" sz="2000"/>
          </a:p>
          <a:p>
            <a:pPr lvl="1">
              <a:spcAft>
                <a:spcPct val="60000"/>
              </a:spcAft>
            </a:pPr>
            <a:r>
              <a:rPr lang="en-US" altLang="en-GB" sz="2000"/>
              <a:t>Iteration 3: Improve Security with OTP</a:t>
            </a:r>
            <a:endParaRPr lang="en-US" altLang="en-GB" sz="2000"/>
          </a:p>
          <a:p>
            <a:pPr lvl="1">
              <a:spcAft>
                <a:spcPct val="60000"/>
              </a:spcAft>
            </a:pPr>
            <a:r>
              <a:rPr lang="en-US" altLang="en-GB" sz="2000"/>
              <a:t>Iteration 4: Enhance User Interface</a:t>
            </a:r>
            <a:endParaRPr lang="en-US" altLang="en-GB"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 y="1447800"/>
            <a:ext cx="7919085" cy="2378710"/>
          </a:xfrm>
          <a:prstGeom prst="rect">
            <a:avLst/>
          </a:prstGeom>
          <a:noFill/>
        </p:spPr>
        <p:txBody>
          <a:bodyPr wrap="square" rtlCol="0" anchor="t">
            <a:spAutoFit/>
          </a:bodyPr>
          <a:p>
            <a:r>
              <a:rPr lang="en-US" altLang="en-GB" sz="2000">
                <a:sym typeface="+mn-ea"/>
              </a:rPr>
              <a:t>A Use Case is a description of how a user interacts with a system to achieve a specific goal.</a:t>
            </a:r>
            <a:endParaRPr lang="en-US" altLang="en-GB" sz="2000"/>
          </a:p>
          <a:p>
            <a:endParaRPr lang="en-US" altLang="en-GB" sz="2000"/>
          </a:p>
          <a:p>
            <a:r>
              <a:rPr lang="en-US" altLang="en-GB" sz="2000">
                <a:sym typeface="+mn-ea"/>
              </a:rPr>
              <a:t>It answers questions like:</a:t>
            </a:r>
            <a:endParaRPr lang="en-US" altLang="en-GB" sz="2000"/>
          </a:p>
          <a:p>
            <a:pPr lvl="1"/>
            <a:r>
              <a:rPr lang="en-US" altLang="en-GB" sz="2000">
                <a:sym typeface="+mn-ea"/>
              </a:rPr>
              <a:t>Who is using the system?</a:t>
            </a:r>
            <a:endParaRPr lang="en-US" altLang="en-GB" sz="2000"/>
          </a:p>
          <a:p>
            <a:pPr lvl="1"/>
            <a:r>
              <a:rPr lang="en-US" altLang="en-GB" sz="2000">
                <a:sym typeface="+mn-ea"/>
              </a:rPr>
              <a:t>What does the user want to do?</a:t>
            </a:r>
            <a:endParaRPr lang="en-US" altLang="en-GB" sz="2000"/>
          </a:p>
          <a:p>
            <a:pPr lvl="1"/>
            <a:r>
              <a:rPr lang="en-US" altLang="en-GB" sz="2000">
                <a:sym typeface="+mn-ea"/>
              </a:rPr>
              <a:t>How does the system respond?</a:t>
            </a:r>
            <a:endParaRPr lang="en-US" altLang="en-GB" sz="2000"/>
          </a:p>
          <a:p>
            <a:pPr lvl="1"/>
            <a:r>
              <a:rPr lang="en-US" altLang="en-GB" sz="2000">
                <a:sym typeface="+mn-ea"/>
              </a:rPr>
              <a:t>What is the final outcome?</a:t>
            </a:r>
            <a:endParaRPr lang="en-US" altLang="en-GB" sz="2000">
              <a:sym typeface="+mn-ea"/>
            </a:endParaRPr>
          </a:p>
        </p:txBody>
      </p:sp>
      <p:sp>
        <p:nvSpPr>
          <p:cNvPr id="4" name="Text Box 3"/>
          <p:cNvSpPr txBox="1"/>
          <p:nvPr/>
        </p:nvSpPr>
        <p:spPr>
          <a:xfrm>
            <a:off x="468630" y="609600"/>
            <a:ext cx="3048000" cy="605155"/>
          </a:xfrm>
          <a:prstGeom prst="rect">
            <a:avLst/>
          </a:prstGeom>
          <a:noFill/>
        </p:spPr>
        <p:txBody>
          <a:bodyPr wrap="square" rtlCol="0">
            <a:spAutoFit/>
          </a:bodyPr>
          <a:p>
            <a:r>
              <a:rPr lang="en-US" altLang="en-GB" b="1">
                <a:sym typeface="+mn-ea"/>
              </a:rPr>
              <a:t>Use case</a:t>
            </a:r>
            <a:endParaRPr lang="en-US" altLang="en-GB" b="1"/>
          </a:p>
          <a:p>
            <a:endParaRPr lang="en-GB"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 y="1447800"/>
            <a:ext cx="7919085" cy="4095115"/>
          </a:xfrm>
          <a:prstGeom prst="rect">
            <a:avLst/>
          </a:prstGeom>
          <a:noFill/>
        </p:spPr>
        <p:txBody>
          <a:bodyPr wrap="square" rtlCol="0" anchor="t">
            <a:spAutoFit/>
          </a:bodyPr>
          <a:p>
            <a:r>
              <a:rPr lang="en-US" altLang="en-GB" sz="2000">
                <a:sym typeface="+mn-ea"/>
              </a:rPr>
              <a:t>Example 1 – Grilled Cheese Sandwich</a:t>
            </a:r>
            <a:endParaRPr lang="en-US" altLang="en-GB" sz="2000"/>
          </a:p>
          <a:p>
            <a:r>
              <a:rPr lang="en-US" altLang="en-GB" sz="2000">
                <a:sym typeface="+mn-ea"/>
              </a:rPr>
              <a:t>Scenario:</a:t>
            </a:r>
            <a:endParaRPr lang="en-US" altLang="en-GB" sz="2000"/>
          </a:p>
          <a:p>
            <a:r>
              <a:rPr lang="en-US" altLang="en-GB" sz="2000">
                <a:sym typeface="+mn-ea"/>
              </a:rPr>
              <a:t>Imagine you are a cook.</a:t>
            </a:r>
            <a:endParaRPr lang="en-US" altLang="en-GB" sz="2000"/>
          </a:p>
          <a:p>
            <a:endParaRPr lang="en-US" altLang="en-GB" sz="2000"/>
          </a:p>
          <a:p>
            <a:r>
              <a:rPr lang="en-US" altLang="en-GB" sz="2000">
                <a:sym typeface="+mn-ea"/>
              </a:rPr>
              <a:t>Goal: Prepare a grilled cheese sandwich.</a:t>
            </a:r>
            <a:endParaRPr lang="en-US" altLang="en-GB" sz="2000"/>
          </a:p>
          <a:p>
            <a:endParaRPr lang="en-US" altLang="en-GB" sz="2000"/>
          </a:p>
          <a:p>
            <a:r>
              <a:rPr lang="en-US" altLang="en-GB" sz="2000">
                <a:sym typeface="+mn-ea"/>
              </a:rPr>
              <a:t>Use Case Steps</a:t>
            </a:r>
            <a:endParaRPr lang="en-US" altLang="en-GB" sz="2000"/>
          </a:p>
          <a:p>
            <a:pPr lvl="1"/>
            <a:r>
              <a:rPr lang="en-US" altLang="en-GB" sz="2000">
                <a:sym typeface="+mn-ea"/>
              </a:rPr>
              <a:t>Gather bread, butter, and cheese.</a:t>
            </a:r>
            <a:endParaRPr lang="en-US" altLang="en-GB" sz="2000"/>
          </a:p>
          <a:p>
            <a:pPr lvl="1"/>
            <a:r>
              <a:rPr lang="en-US" altLang="en-GB" sz="2000">
                <a:sym typeface="+mn-ea"/>
              </a:rPr>
              <a:t>Heat the pan.</a:t>
            </a:r>
            <a:endParaRPr lang="en-US" altLang="en-GB" sz="2000"/>
          </a:p>
          <a:p>
            <a:pPr lvl="1"/>
            <a:r>
              <a:rPr lang="en-US" altLang="en-GB" sz="2000">
                <a:sym typeface="+mn-ea"/>
              </a:rPr>
              <a:t>Butter the bread.</a:t>
            </a:r>
            <a:endParaRPr lang="en-US" altLang="en-GB" sz="2000"/>
          </a:p>
          <a:p>
            <a:pPr lvl="1"/>
            <a:r>
              <a:rPr lang="en-US" altLang="en-GB" sz="2000">
                <a:sym typeface="+mn-ea"/>
              </a:rPr>
              <a:t>Place cheese between bread slices.</a:t>
            </a:r>
            <a:endParaRPr lang="en-US" altLang="en-GB" sz="2000"/>
          </a:p>
          <a:p>
            <a:pPr lvl="1"/>
            <a:r>
              <a:rPr lang="en-US" altLang="en-GB" sz="2000">
                <a:sym typeface="+mn-ea"/>
              </a:rPr>
              <a:t>Grill both sides.</a:t>
            </a:r>
            <a:endParaRPr lang="en-US" altLang="en-GB" sz="2000"/>
          </a:p>
          <a:p>
            <a:pPr lvl="1"/>
            <a:r>
              <a:rPr lang="en-US" altLang="en-GB" sz="2000">
                <a:sym typeface="+mn-ea"/>
              </a:rPr>
              <a:t>Serve the sandwich.</a:t>
            </a:r>
            <a:endParaRPr lang="en-US" altLang="en-GB" sz="2000"/>
          </a:p>
          <a:p>
            <a:pPr lvl="0"/>
            <a:r>
              <a:rPr lang="en-US" altLang="en-GB" sz="2000">
                <a:sym typeface="+mn-ea"/>
              </a:rPr>
              <a:t>The Use Case describes how the cook reaches the goal.</a:t>
            </a:r>
            <a:endParaRPr lang="en-US" altLang="en-GB" sz="2000">
              <a:sym typeface="+mn-ea"/>
            </a:endParaRPr>
          </a:p>
        </p:txBody>
      </p:sp>
      <p:sp>
        <p:nvSpPr>
          <p:cNvPr id="4" name="Text Box 3"/>
          <p:cNvSpPr txBox="1"/>
          <p:nvPr/>
        </p:nvSpPr>
        <p:spPr>
          <a:xfrm>
            <a:off x="468630" y="609600"/>
            <a:ext cx="3048000" cy="605155"/>
          </a:xfrm>
          <a:prstGeom prst="rect">
            <a:avLst/>
          </a:prstGeom>
          <a:noFill/>
        </p:spPr>
        <p:txBody>
          <a:bodyPr wrap="square" rtlCol="0">
            <a:spAutoFit/>
          </a:bodyPr>
          <a:p>
            <a:r>
              <a:rPr lang="en-US" altLang="en-GB" b="1">
                <a:sym typeface="+mn-ea"/>
              </a:rPr>
              <a:t>Use case</a:t>
            </a:r>
            <a:endParaRPr lang="en-US" altLang="en-GB" b="1"/>
          </a:p>
          <a:p>
            <a:endParaRPr lang="en-GB"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 y="1447800"/>
            <a:ext cx="7919085" cy="4666615"/>
          </a:xfrm>
          <a:prstGeom prst="rect">
            <a:avLst/>
          </a:prstGeom>
          <a:noFill/>
        </p:spPr>
        <p:txBody>
          <a:bodyPr wrap="square" rtlCol="0" anchor="t">
            <a:spAutoFit/>
          </a:bodyPr>
          <a:p>
            <a:r>
              <a:rPr lang="en-US" altLang="en-GB" sz="2000">
                <a:sym typeface="+mn-ea"/>
              </a:rPr>
              <a:t>1. Actor</a:t>
            </a:r>
            <a:endParaRPr lang="en-US" altLang="en-GB" sz="2000"/>
          </a:p>
          <a:p>
            <a:pPr indent="457200"/>
            <a:r>
              <a:rPr lang="en-US" altLang="en-GB" sz="2000">
                <a:sym typeface="+mn-ea"/>
              </a:rPr>
              <a:t>The Actor is the person or external system interacting with the application.</a:t>
            </a:r>
            <a:endParaRPr lang="en-US" altLang="en-GB" sz="2000"/>
          </a:p>
          <a:p>
            <a:endParaRPr lang="en-US" altLang="en-GB" sz="2000"/>
          </a:p>
          <a:p>
            <a:r>
              <a:rPr lang="en-US" altLang="en-GB" sz="2000">
                <a:sym typeface="+mn-ea"/>
              </a:rPr>
              <a:t>The actor starts the Use Case.</a:t>
            </a:r>
            <a:endParaRPr lang="en-US" altLang="en-GB" sz="2000"/>
          </a:p>
          <a:p>
            <a:r>
              <a:rPr lang="en-US" altLang="en-GB" sz="2000">
                <a:sym typeface="+mn-ea"/>
              </a:rPr>
              <a:t>Examples:</a:t>
            </a:r>
            <a:endParaRPr lang="en-US" altLang="en-GB" sz="2000"/>
          </a:p>
          <a:p>
            <a:pPr lvl="1"/>
            <a:r>
              <a:rPr lang="en-US" altLang="en-GB" sz="2000">
                <a:sym typeface="+mn-ea"/>
              </a:rPr>
              <a:t>Customer</a:t>
            </a:r>
            <a:endParaRPr lang="en-US" altLang="en-GB" sz="2000"/>
          </a:p>
          <a:p>
            <a:pPr lvl="1"/>
            <a:r>
              <a:rPr lang="en-US" altLang="en-GB" sz="2000">
                <a:sym typeface="+mn-ea"/>
              </a:rPr>
              <a:t>Student</a:t>
            </a:r>
            <a:endParaRPr lang="en-US" altLang="en-GB" sz="2000"/>
          </a:p>
          <a:p>
            <a:pPr lvl="1"/>
            <a:r>
              <a:rPr lang="en-US" altLang="en-GB" sz="2000">
                <a:sym typeface="+mn-ea"/>
              </a:rPr>
              <a:t>Employee</a:t>
            </a:r>
            <a:endParaRPr lang="en-US" altLang="en-GB" sz="2000"/>
          </a:p>
          <a:p>
            <a:pPr lvl="1"/>
            <a:r>
              <a:rPr lang="en-US" altLang="en-GB" sz="2000">
                <a:sym typeface="+mn-ea"/>
              </a:rPr>
              <a:t>Admin</a:t>
            </a:r>
            <a:endParaRPr lang="en-US" altLang="en-GB" sz="2000"/>
          </a:p>
          <a:p>
            <a:pPr lvl="1"/>
            <a:r>
              <a:rPr lang="en-US" altLang="en-GB" sz="2000">
                <a:sym typeface="+mn-ea"/>
              </a:rPr>
              <a:t>Bank</a:t>
            </a:r>
            <a:endParaRPr lang="en-US" altLang="en-GB" sz="2000"/>
          </a:p>
          <a:p>
            <a:pPr lvl="1"/>
            <a:r>
              <a:rPr lang="en-US" altLang="en-GB" sz="2000">
                <a:sym typeface="+mn-ea"/>
              </a:rPr>
              <a:t>Payment Gateway</a:t>
            </a:r>
            <a:endParaRPr lang="en-US" altLang="en-GB" sz="2000"/>
          </a:p>
          <a:p>
            <a:r>
              <a:rPr lang="en-US" altLang="en-GB" sz="2000">
                <a:sym typeface="+mn-ea"/>
              </a:rPr>
              <a:t>Example:</a:t>
            </a:r>
            <a:endParaRPr lang="en-US" altLang="en-GB" sz="2000"/>
          </a:p>
          <a:p>
            <a:pPr indent="457200"/>
            <a:r>
              <a:rPr lang="en-US" altLang="en-GB" sz="2000">
                <a:sym typeface="+mn-ea"/>
              </a:rPr>
              <a:t>Online Shopping App</a:t>
            </a:r>
            <a:endParaRPr lang="en-US" altLang="en-GB" sz="2000"/>
          </a:p>
          <a:p>
            <a:pPr indent="457200"/>
            <a:r>
              <a:rPr lang="en-US" altLang="en-GB" sz="2000">
                <a:sym typeface="+mn-ea"/>
              </a:rPr>
              <a:t>Actor = Customer</a:t>
            </a:r>
            <a:endParaRPr lang="en-US" altLang="en-GB" sz="2000"/>
          </a:p>
          <a:p>
            <a:endParaRPr lang="en-US" altLang="en-GB" sz="2000">
              <a:sym typeface="+mn-ea"/>
            </a:endParaRPr>
          </a:p>
        </p:txBody>
      </p:sp>
      <p:sp>
        <p:nvSpPr>
          <p:cNvPr id="4" name="Text Box 3"/>
          <p:cNvSpPr txBox="1"/>
          <p:nvPr/>
        </p:nvSpPr>
        <p:spPr>
          <a:xfrm>
            <a:off x="468630" y="609600"/>
            <a:ext cx="3801110" cy="605155"/>
          </a:xfrm>
          <a:prstGeom prst="rect">
            <a:avLst/>
          </a:prstGeom>
          <a:noFill/>
        </p:spPr>
        <p:txBody>
          <a:bodyPr wrap="square" rtlCol="0">
            <a:spAutoFit/>
          </a:bodyPr>
          <a:p>
            <a:r>
              <a:rPr lang="en-US" altLang="en-GB" b="1">
                <a:sym typeface="+mn-ea"/>
              </a:rPr>
              <a:t>Components of a Use Case</a:t>
            </a:r>
            <a:endParaRPr lang="en-US" altLang="en-GB" b="1"/>
          </a:p>
          <a:p>
            <a:endParaRPr lang="en-GB" altLang="en-US"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 y="1447800"/>
            <a:ext cx="7919085" cy="2665095"/>
          </a:xfrm>
          <a:prstGeom prst="rect">
            <a:avLst/>
          </a:prstGeom>
          <a:noFill/>
        </p:spPr>
        <p:txBody>
          <a:bodyPr wrap="square" rtlCol="0" anchor="t">
            <a:spAutoFit/>
          </a:bodyPr>
          <a:p>
            <a:r>
              <a:rPr lang="en-US" altLang="en-GB" sz="2000" b="1">
                <a:sym typeface="+mn-ea"/>
              </a:rPr>
              <a:t>System</a:t>
            </a:r>
            <a:endParaRPr lang="en-US" altLang="en-GB" sz="2000" b="1"/>
          </a:p>
          <a:p>
            <a:pPr indent="457200"/>
            <a:r>
              <a:rPr lang="en-US" altLang="en-GB" sz="2000">
                <a:sym typeface="+mn-ea"/>
              </a:rPr>
              <a:t>The System is the software or application that helps the actor achieve the goal.</a:t>
            </a:r>
            <a:endParaRPr lang="en-US" altLang="en-GB" sz="2000"/>
          </a:p>
          <a:p>
            <a:endParaRPr lang="en-US" altLang="en-GB" sz="2000"/>
          </a:p>
          <a:p>
            <a:r>
              <a:rPr lang="en-US" altLang="en-GB" sz="2000">
                <a:sym typeface="+mn-ea"/>
              </a:rPr>
              <a:t>Examples:</a:t>
            </a:r>
            <a:endParaRPr lang="en-US" altLang="en-GB" sz="2000"/>
          </a:p>
          <a:p>
            <a:pPr lvl="1"/>
            <a:r>
              <a:rPr lang="en-US" altLang="en-GB" sz="2000">
                <a:sym typeface="+mn-ea"/>
              </a:rPr>
              <a:t>Amazon Website</a:t>
            </a:r>
            <a:endParaRPr lang="en-US" altLang="en-GB" sz="2000"/>
          </a:p>
          <a:p>
            <a:pPr lvl="1"/>
            <a:r>
              <a:rPr lang="en-US" altLang="en-GB" sz="2000">
                <a:sym typeface="+mn-ea"/>
              </a:rPr>
              <a:t>ATM Machine</a:t>
            </a:r>
            <a:endParaRPr lang="en-US" altLang="en-GB" sz="2000"/>
          </a:p>
          <a:p>
            <a:pPr lvl="1"/>
            <a:r>
              <a:rPr lang="en-US" altLang="en-GB" sz="2000">
                <a:sym typeface="+mn-ea"/>
              </a:rPr>
              <a:t>Mobile Banking App</a:t>
            </a:r>
            <a:endParaRPr lang="en-US" altLang="en-GB" sz="2000"/>
          </a:p>
          <a:p>
            <a:pPr lvl="1"/>
            <a:r>
              <a:rPr lang="en-US" altLang="en-GB" sz="2000">
                <a:sym typeface="+mn-ea"/>
              </a:rPr>
              <a:t>Library Management System</a:t>
            </a:r>
            <a:endParaRPr lang="en-US" altLang="en-GB" sz="2000">
              <a:sym typeface="+mn-ea"/>
            </a:endParaRPr>
          </a:p>
        </p:txBody>
      </p:sp>
      <p:sp>
        <p:nvSpPr>
          <p:cNvPr id="4" name="Text Box 3"/>
          <p:cNvSpPr txBox="1"/>
          <p:nvPr/>
        </p:nvSpPr>
        <p:spPr>
          <a:xfrm>
            <a:off x="468630" y="609600"/>
            <a:ext cx="3801110" cy="605155"/>
          </a:xfrm>
          <a:prstGeom prst="rect">
            <a:avLst/>
          </a:prstGeom>
          <a:noFill/>
        </p:spPr>
        <p:txBody>
          <a:bodyPr wrap="square" rtlCol="0">
            <a:spAutoFit/>
          </a:bodyPr>
          <a:p>
            <a:r>
              <a:rPr lang="en-US" altLang="en-GB" b="1">
                <a:sym typeface="+mn-ea"/>
              </a:rPr>
              <a:t>Components of a Use Case</a:t>
            </a:r>
            <a:endParaRPr lang="en-US" altLang="en-GB" b="1"/>
          </a:p>
          <a:p>
            <a:endParaRPr lang="en-GB" altLang="en-US"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 y="1447800"/>
            <a:ext cx="7919085" cy="2950845"/>
          </a:xfrm>
          <a:prstGeom prst="rect">
            <a:avLst/>
          </a:prstGeom>
          <a:noFill/>
        </p:spPr>
        <p:txBody>
          <a:bodyPr wrap="square" rtlCol="0" anchor="t">
            <a:spAutoFit/>
          </a:bodyPr>
          <a:p>
            <a:r>
              <a:rPr lang="en-US" altLang="en-GB" sz="2000">
                <a:sym typeface="+mn-ea"/>
              </a:rPr>
              <a:t>Goal</a:t>
            </a:r>
            <a:endParaRPr lang="en-US" altLang="en-GB" sz="2000"/>
          </a:p>
          <a:p>
            <a:pPr indent="457200"/>
            <a:r>
              <a:rPr lang="en-US" altLang="en-GB" sz="2000">
                <a:sym typeface="+mn-ea"/>
              </a:rPr>
              <a:t>The Goal is what the actor wants to achieve successfully.</a:t>
            </a:r>
            <a:endParaRPr lang="en-US" altLang="en-GB" sz="2000"/>
          </a:p>
          <a:p>
            <a:endParaRPr lang="en-US" altLang="en-GB" sz="2000"/>
          </a:p>
          <a:p>
            <a:r>
              <a:rPr lang="en-US" altLang="en-GB" sz="2000">
                <a:sym typeface="+mn-ea"/>
              </a:rPr>
              <a:t>Examples:</a:t>
            </a:r>
            <a:endParaRPr lang="en-US" altLang="en-GB" sz="2000"/>
          </a:p>
          <a:p>
            <a:endParaRPr lang="en-US" altLang="en-GB" sz="2000"/>
          </a:p>
          <a:p>
            <a:pPr lvl="1"/>
            <a:r>
              <a:rPr lang="en-US" altLang="en-GB" sz="2000">
                <a:sym typeface="+mn-ea"/>
              </a:rPr>
              <a:t>Place an order</a:t>
            </a:r>
            <a:endParaRPr lang="en-US" altLang="en-GB" sz="2000"/>
          </a:p>
          <a:p>
            <a:pPr lvl="1"/>
            <a:r>
              <a:rPr lang="en-US" altLang="en-GB" sz="2000">
                <a:sym typeface="+mn-ea"/>
              </a:rPr>
              <a:t>Transfer money</a:t>
            </a:r>
            <a:endParaRPr lang="en-US" altLang="en-GB" sz="2000"/>
          </a:p>
          <a:p>
            <a:pPr lvl="1"/>
            <a:r>
              <a:rPr lang="en-US" altLang="en-GB" sz="2000">
                <a:sym typeface="+mn-ea"/>
              </a:rPr>
              <a:t>Login</a:t>
            </a:r>
            <a:endParaRPr lang="en-US" altLang="en-GB" sz="2000"/>
          </a:p>
          <a:p>
            <a:pPr lvl="1"/>
            <a:r>
              <a:rPr lang="en-US" altLang="en-GB" sz="2000">
                <a:sym typeface="+mn-ea"/>
              </a:rPr>
              <a:t>Search products</a:t>
            </a:r>
            <a:endParaRPr lang="en-US" altLang="en-GB" sz="2000"/>
          </a:p>
          <a:p>
            <a:pPr lvl="1"/>
            <a:r>
              <a:rPr lang="en-US" altLang="en-GB" sz="2000">
                <a:sym typeface="+mn-ea"/>
              </a:rPr>
              <a:t>Borrow a book</a:t>
            </a:r>
            <a:endParaRPr lang="en-US" altLang="en-GB" sz="2000">
              <a:sym typeface="+mn-ea"/>
            </a:endParaRPr>
          </a:p>
        </p:txBody>
      </p:sp>
      <p:sp>
        <p:nvSpPr>
          <p:cNvPr id="4" name="Text Box 3"/>
          <p:cNvSpPr txBox="1"/>
          <p:nvPr/>
        </p:nvSpPr>
        <p:spPr>
          <a:xfrm>
            <a:off x="468630" y="609600"/>
            <a:ext cx="3801110" cy="605155"/>
          </a:xfrm>
          <a:prstGeom prst="rect">
            <a:avLst/>
          </a:prstGeom>
          <a:noFill/>
        </p:spPr>
        <p:txBody>
          <a:bodyPr wrap="square" rtlCol="0">
            <a:spAutoFit/>
          </a:bodyPr>
          <a:p>
            <a:r>
              <a:rPr lang="en-US" altLang="en-GB" b="1">
                <a:sym typeface="+mn-ea"/>
              </a:rPr>
              <a:t>Components of a Use Case</a:t>
            </a:r>
            <a:endParaRPr lang="en-US" altLang="en-GB" b="1"/>
          </a:p>
          <a:p>
            <a:endParaRPr lang="en-GB" altLang="en-US"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1000" y="1214755"/>
            <a:ext cx="7919085" cy="5233670"/>
          </a:xfrm>
          <a:prstGeom prst="rect">
            <a:avLst/>
          </a:prstGeom>
          <a:noFill/>
        </p:spPr>
        <p:txBody>
          <a:bodyPr wrap="square" rtlCol="0" anchor="t">
            <a:spAutoFit/>
          </a:bodyPr>
          <a:p>
            <a:r>
              <a:rPr lang="en-US" altLang="en-GB" sz="1800">
                <a:sym typeface="+mn-ea"/>
              </a:rPr>
              <a:t>Online Shopping Example</a:t>
            </a:r>
            <a:endParaRPr lang="en-US" altLang="en-GB" sz="1800"/>
          </a:p>
          <a:p>
            <a:r>
              <a:rPr lang="en-US" altLang="en-GB" sz="1800">
                <a:sym typeface="+mn-ea"/>
              </a:rPr>
              <a:t>Actor</a:t>
            </a:r>
            <a:endParaRPr lang="en-US" altLang="en-GB" sz="1800"/>
          </a:p>
          <a:p>
            <a:pPr indent="457200"/>
            <a:r>
              <a:rPr lang="en-US" altLang="en-GB" sz="1800">
                <a:sym typeface="+mn-ea"/>
              </a:rPr>
              <a:t>Customer</a:t>
            </a:r>
            <a:endParaRPr lang="en-US" altLang="en-GB" sz="1800"/>
          </a:p>
          <a:p>
            <a:pPr marL="457200" lvl="1" indent="457200"/>
            <a:r>
              <a:rPr lang="en-US" altLang="en-US" sz="1800">
                <a:sym typeface="+mn-ea"/>
              </a:rPr>
              <a:t>↓</a:t>
            </a:r>
            <a:endParaRPr lang="en-US" altLang="en-US" sz="1800"/>
          </a:p>
          <a:p>
            <a:r>
              <a:rPr lang="en-US" altLang="en-GB" sz="1800">
                <a:sym typeface="+mn-ea"/>
              </a:rPr>
              <a:t>System</a:t>
            </a:r>
            <a:endParaRPr lang="en-US" altLang="en-GB" sz="1800"/>
          </a:p>
          <a:p>
            <a:pPr indent="457200"/>
            <a:r>
              <a:rPr lang="en-US" altLang="en-GB" sz="1800">
                <a:sym typeface="+mn-ea"/>
              </a:rPr>
              <a:t>Amazon Website</a:t>
            </a:r>
            <a:endParaRPr lang="en-US" altLang="en-GB" sz="1800"/>
          </a:p>
          <a:p>
            <a:r>
              <a:rPr lang="en-US" altLang="en-US" sz="1800">
                <a:sym typeface="+mn-ea"/>
              </a:rPr>
              <a:t>↓</a:t>
            </a:r>
            <a:endParaRPr lang="en-US" altLang="en-US" sz="1800"/>
          </a:p>
          <a:p>
            <a:r>
              <a:rPr lang="en-US" altLang="en-GB" sz="1800">
                <a:sym typeface="+mn-ea"/>
              </a:rPr>
              <a:t>Goal</a:t>
            </a:r>
            <a:endParaRPr lang="en-US" altLang="en-GB" sz="1800"/>
          </a:p>
          <a:p>
            <a:pPr indent="457200"/>
            <a:r>
              <a:rPr lang="en-US" altLang="en-GB" sz="1800">
                <a:sym typeface="+mn-ea"/>
              </a:rPr>
              <a:t>Purchase a Laptop</a:t>
            </a:r>
            <a:endParaRPr lang="en-US" altLang="en-GB" sz="1800"/>
          </a:p>
          <a:p>
            <a:endParaRPr lang="en-US" altLang="en-GB" sz="1800"/>
          </a:p>
          <a:p>
            <a:r>
              <a:rPr lang="en-US" altLang="en-GB" sz="1800">
                <a:sym typeface="+mn-ea"/>
              </a:rPr>
              <a:t>Use Case Flow</a:t>
            </a:r>
            <a:endParaRPr lang="en-US" altLang="en-GB" sz="1800"/>
          </a:p>
          <a:p>
            <a:pPr lvl="1"/>
            <a:r>
              <a:rPr lang="en-US" altLang="en-GB" sz="1800">
                <a:sym typeface="+mn-ea"/>
              </a:rPr>
              <a:t>Customer opens website.</a:t>
            </a:r>
            <a:endParaRPr lang="en-US" altLang="en-GB" sz="1800"/>
          </a:p>
          <a:p>
            <a:pPr lvl="1"/>
            <a:r>
              <a:rPr lang="en-US" altLang="en-GB" sz="1800">
                <a:sym typeface="+mn-ea"/>
              </a:rPr>
              <a:t>Customer searches for laptop.</a:t>
            </a:r>
            <a:endParaRPr lang="en-US" altLang="en-GB" sz="1800"/>
          </a:p>
          <a:p>
            <a:pPr lvl="1"/>
            <a:r>
              <a:rPr lang="en-US" altLang="en-GB" sz="1800">
                <a:sym typeface="+mn-ea"/>
              </a:rPr>
              <a:t>System displays products.</a:t>
            </a:r>
            <a:endParaRPr lang="en-US" altLang="en-GB" sz="1800"/>
          </a:p>
          <a:p>
            <a:pPr lvl="1"/>
            <a:r>
              <a:rPr lang="en-US" altLang="en-GB" sz="1800">
                <a:sym typeface="+mn-ea"/>
              </a:rPr>
              <a:t>Customer selects laptop.</a:t>
            </a:r>
            <a:endParaRPr lang="en-US" altLang="en-GB" sz="1800"/>
          </a:p>
          <a:p>
            <a:pPr lvl="1"/>
            <a:r>
              <a:rPr lang="en-US" altLang="en-GB" sz="1800">
                <a:sym typeface="+mn-ea"/>
              </a:rPr>
              <a:t>Customer adds laptop to cart.</a:t>
            </a:r>
            <a:endParaRPr lang="en-US" altLang="en-GB" sz="1800"/>
          </a:p>
          <a:p>
            <a:pPr lvl="1"/>
            <a:r>
              <a:rPr lang="en-US" altLang="en-GB" sz="1800">
                <a:sym typeface="+mn-ea"/>
              </a:rPr>
              <a:t>Customer makes payment.</a:t>
            </a:r>
            <a:endParaRPr lang="en-US" altLang="en-GB" sz="1800"/>
          </a:p>
          <a:p>
            <a:pPr lvl="1"/>
            <a:r>
              <a:rPr lang="en-US" altLang="en-GB" sz="1800">
                <a:sym typeface="+mn-ea"/>
              </a:rPr>
              <a:t>System confirms the order.</a:t>
            </a:r>
            <a:endParaRPr lang="en-US" altLang="en-GB" sz="1800"/>
          </a:p>
          <a:p>
            <a:endParaRPr lang="en-US" altLang="en-GB" sz="1800"/>
          </a:p>
          <a:p>
            <a:r>
              <a:rPr lang="en-US" altLang="en-GB" sz="1800">
                <a:sym typeface="+mn-ea"/>
              </a:rPr>
              <a:t>Goal achieved.</a:t>
            </a:r>
            <a:endParaRPr lang="en-US" altLang="en-GB" sz="1800">
              <a:sym typeface="+mn-ea"/>
            </a:endParaRPr>
          </a:p>
        </p:txBody>
      </p:sp>
      <p:sp>
        <p:nvSpPr>
          <p:cNvPr id="4" name="Text Box 3"/>
          <p:cNvSpPr txBox="1"/>
          <p:nvPr/>
        </p:nvSpPr>
        <p:spPr>
          <a:xfrm>
            <a:off x="468630" y="609600"/>
            <a:ext cx="3801110" cy="605155"/>
          </a:xfrm>
          <a:prstGeom prst="rect">
            <a:avLst/>
          </a:prstGeom>
          <a:noFill/>
        </p:spPr>
        <p:txBody>
          <a:bodyPr wrap="square" rtlCol="0">
            <a:spAutoFit/>
          </a:bodyPr>
          <a:p>
            <a:r>
              <a:rPr lang="en-US" altLang="en-GB" b="1">
                <a:sym typeface="+mn-ea"/>
              </a:rPr>
              <a:t>Components of a Use Case</a:t>
            </a:r>
            <a:endParaRPr lang="en-US" altLang="en-GB" b="1"/>
          </a:p>
          <a:p>
            <a:endParaRPr lang="en-GB" altLang="en-US"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1000" y="1214755"/>
            <a:ext cx="7919085" cy="5233670"/>
          </a:xfrm>
          <a:prstGeom prst="rect">
            <a:avLst/>
          </a:prstGeom>
          <a:noFill/>
        </p:spPr>
        <p:txBody>
          <a:bodyPr wrap="square" rtlCol="0" anchor="t">
            <a:spAutoFit/>
          </a:bodyPr>
          <a:p>
            <a:r>
              <a:rPr lang="en-US" altLang="en-GB" sz="1800">
                <a:sym typeface="+mn-ea"/>
              </a:rPr>
              <a:t>Online Shopping Example</a:t>
            </a:r>
            <a:endParaRPr lang="en-US" altLang="en-GB" sz="1800"/>
          </a:p>
          <a:p>
            <a:r>
              <a:rPr lang="en-US" altLang="en-GB" sz="1800">
                <a:sym typeface="+mn-ea"/>
              </a:rPr>
              <a:t>Actor</a:t>
            </a:r>
            <a:endParaRPr lang="en-US" altLang="en-GB" sz="1800"/>
          </a:p>
          <a:p>
            <a:pPr indent="457200"/>
            <a:r>
              <a:rPr lang="en-US" altLang="en-GB" sz="1800">
                <a:sym typeface="+mn-ea"/>
              </a:rPr>
              <a:t>Customer</a:t>
            </a:r>
            <a:endParaRPr lang="en-US" altLang="en-GB" sz="1800"/>
          </a:p>
          <a:p>
            <a:pPr marL="457200" lvl="1" indent="457200"/>
            <a:r>
              <a:rPr lang="en-US" altLang="en-US" sz="1800">
                <a:sym typeface="+mn-ea"/>
              </a:rPr>
              <a:t>↓</a:t>
            </a:r>
            <a:endParaRPr lang="en-US" altLang="en-US" sz="1800"/>
          </a:p>
          <a:p>
            <a:r>
              <a:rPr lang="en-US" altLang="en-GB" sz="1800">
                <a:sym typeface="+mn-ea"/>
              </a:rPr>
              <a:t>System</a:t>
            </a:r>
            <a:endParaRPr lang="en-US" altLang="en-GB" sz="1800"/>
          </a:p>
          <a:p>
            <a:pPr indent="457200"/>
            <a:r>
              <a:rPr lang="en-US" altLang="en-GB" sz="1800">
                <a:sym typeface="+mn-ea"/>
              </a:rPr>
              <a:t>Amazon Website</a:t>
            </a:r>
            <a:endParaRPr lang="en-US" altLang="en-GB" sz="1800"/>
          </a:p>
          <a:p>
            <a:r>
              <a:rPr lang="en-US" altLang="en-US" sz="1800">
                <a:sym typeface="+mn-ea"/>
              </a:rPr>
              <a:t>↓</a:t>
            </a:r>
            <a:endParaRPr lang="en-US" altLang="en-US" sz="1800"/>
          </a:p>
          <a:p>
            <a:r>
              <a:rPr lang="en-US" altLang="en-GB" sz="1800">
                <a:sym typeface="+mn-ea"/>
              </a:rPr>
              <a:t>Goal</a:t>
            </a:r>
            <a:endParaRPr lang="en-US" altLang="en-GB" sz="1800"/>
          </a:p>
          <a:p>
            <a:pPr indent="457200"/>
            <a:r>
              <a:rPr lang="en-US" altLang="en-GB" sz="1800">
                <a:sym typeface="+mn-ea"/>
              </a:rPr>
              <a:t>Purchase a Laptop</a:t>
            </a:r>
            <a:endParaRPr lang="en-US" altLang="en-GB" sz="1800"/>
          </a:p>
          <a:p>
            <a:endParaRPr lang="en-US" altLang="en-GB" sz="1800"/>
          </a:p>
          <a:p>
            <a:r>
              <a:rPr lang="en-US" altLang="en-GB" sz="1800">
                <a:sym typeface="+mn-ea"/>
              </a:rPr>
              <a:t>Use Case Flow</a:t>
            </a:r>
            <a:endParaRPr lang="en-US" altLang="en-GB" sz="1800"/>
          </a:p>
          <a:p>
            <a:pPr lvl="1"/>
            <a:r>
              <a:rPr lang="en-US" altLang="en-GB" sz="1800">
                <a:sym typeface="+mn-ea"/>
              </a:rPr>
              <a:t>Customer opens website.</a:t>
            </a:r>
            <a:endParaRPr lang="en-US" altLang="en-GB" sz="1800"/>
          </a:p>
          <a:p>
            <a:pPr lvl="1"/>
            <a:r>
              <a:rPr lang="en-US" altLang="en-GB" sz="1800">
                <a:sym typeface="+mn-ea"/>
              </a:rPr>
              <a:t>Customer searches for laptop.</a:t>
            </a:r>
            <a:endParaRPr lang="en-US" altLang="en-GB" sz="1800"/>
          </a:p>
          <a:p>
            <a:pPr lvl="1"/>
            <a:r>
              <a:rPr lang="en-US" altLang="en-GB" sz="1800">
                <a:sym typeface="+mn-ea"/>
              </a:rPr>
              <a:t>System displays products.</a:t>
            </a:r>
            <a:endParaRPr lang="en-US" altLang="en-GB" sz="1800"/>
          </a:p>
          <a:p>
            <a:pPr lvl="1"/>
            <a:r>
              <a:rPr lang="en-US" altLang="en-GB" sz="1800">
                <a:sym typeface="+mn-ea"/>
              </a:rPr>
              <a:t>Customer selects laptop.</a:t>
            </a:r>
            <a:endParaRPr lang="en-US" altLang="en-GB" sz="1800"/>
          </a:p>
          <a:p>
            <a:pPr lvl="1"/>
            <a:r>
              <a:rPr lang="en-US" altLang="en-GB" sz="1800">
                <a:sym typeface="+mn-ea"/>
              </a:rPr>
              <a:t>Customer adds laptop to cart.</a:t>
            </a:r>
            <a:endParaRPr lang="en-US" altLang="en-GB" sz="1800"/>
          </a:p>
          <a:p>
            <a:pPr lvl="1"/>
            <a:r>
              <a:rPr lang="en-US" altLang="en-GB" sz="1800">
                <a:sym typeface="+mn-ea"/>
              </a:rPr>
              <a:t>Customer makes payment.</a:t>
            </a:r>
            <a:endParaRPr lang="en-US" altLang="en-GB" sz="1800"/>
          </a:p>
          <a:p>
            <a:pPr lvl="1"/>
            <a:r>
              <a:rPr lang="en-US" altLang="en-GB" sz="1800">
                <a:sym typeface="+mn-ea"/>
              </a:rPr>
              <a:t>System confirms the order.</a:t>
            </a:r>
            <a:endParaRPr lang="en-US" altLang="en-GB" sz="1800"/>
          </a:p>
          <a:p>
            <a:endParaRPr lang="en-US" altLang="en-GB" sz="1800"/>
          </a:p>
          <a:p>
            <a:r>
              <a:rPr lang="en-US" altLang="en-GB" sz="1800">
                <a:sym typeface="+mn-ea"/>
              </a:rPr>
              <a:t>Goal achieved.</a:t>
            </a:r>
            <a:endParaRPr lang="en-US" altLang="en-GB" sz="1800">
              <a:sym typeface="+mn-ea"/>
            </a:endParaRPr>
          </a:p>
        </p:txBody>
      </p:sp>
      <p:sp>
        <p:nvSpPr>
          <p:cNvPr id="4" name="Text Box 3"/>
          <p:cNvSpPr txBox="1"/>
          <p:nvPr/>
        </p:nvSpPr>
        <p:spPr>
          <a:xfrm>
            <a:off x="468630" y="609600"/>
            <a:ext cx="3801110" cy="605155"/>
          </a:xfrm>
          <a:prstGeom prst="rect">
            <a:avLst/>
          </a:prstGeom>
          <a:noFill/>
        </p:spPr>
        <p:txBody>
          <a:bodyPr wrap="square" rtlCol="0">
            <a:spAutoFit/>
          </a:bodyPr>
          <a:p>
            <a:r>
              <a:rPr lang="en-US" altLang="en-GB" b="1">
                <a:sym typeface="+mn-ea"/>
              </a:rPr>
              <a:t>Components of a Use Case</a:t>
            </a:r>
            <a:endParaRPr lang="en-US" altLang="en-GB" b="1"/>
          </a:p>
          <a:p>
            <a:endParaRPr lang="en-GB" altLang="en-US"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3400" y="1371600"/>
            <a:ext cx="8201025" cy="4719320"/>
          </a:xfrm>
          <a:prstGeom prst="rect">
            <a:avLst/>
          </a:prstGeom>
          <a:noFill/>
        </p:spPr>
        <p:txBody>
          <a:bodyPr wrap="square" rtlCol="0" anchor="t">
            <a:spAutoFit/>
          </a:bodyPr>
          <a:p>
            <a:r>
              <a:rPr lang="en-US" dirty="0" smtClean="0">
                <a:sym typeface="+mn-ea"/>
              </a:rPr>
              <a:t>Scrum is a popular framework that enables teams to work together. Based on Agile principles, Scrum enables the development, delivery, and sustenance of complex projects. </a:t>
            </a:r>
            <a:endParaRPr lang="en-US" dirty="0" smtClean="0"/>
          </a:p>
          <a:p>
            <a:endParaRPr lang="en-US" dirty="0" smtClean="0"/>
          </a:p>
          <a:p>
            <a:r>
              <a:rPr lang="en-US" dirty="0" smtClean="0">
                <a:sym typeface="+mn-ea"/>
              </a:rPr>
              <a:t>With Scrum:</a:t>
            </a:r>
            <a:endParaRPr lang="en-US" dirty="0" smtClean="0"/>
          </a:p>
          <a:p>
            <a:pPr lvl="1">
              <a:buFont typeface="Arial" panose="020B0604020202020204" pitchFamily="34" charset="0"/>
              <a:buChar char="•"/>
            </a:pPr>
            <a:r>
              <a:rPr lang="en-US" dirty="0" smtClean="0">
                <a:sym typeface="+mn-ea"/>
              </a:rPr>
              <a:t> Project deliverables are completed quickly and efficiently</a:t>
            </a:r>
            <a:endParaRPr lang="en-US" dirty="0" smtClean="0"/>
          </a:p>
          <a:p>
            <a:pPr lvl="1"/>
            <a:endParaRPr lang="en-US" dirty="0" smtClean="0"/>
          </a:p>
          <a:p>
            <a:pPr lvl="1">
              <a:buFont typeface="Arial" panose="020B0604020202020204" pitchFamily="34" charset="0"/>
              <a:buChar char="•"/>
            </a:pPr>
            <a:r>
              <a:rPr lang="en-US" dirty="0" smtClean="0">
                <a:sym typeface="+mn-ea"/>
              </a:rPr>
              <a:t> Time and money are used properly</a:t>
            </a:r>
            <a:endParaRPr lang="en-US" dirty="0" smtClean="0"/>
          </a:p>
          <a:p>
            <a:pPr lvl="1">
              <a:buFont typeface="Arial" panose="020B0604020202020204" pitchFamily="34" charset="0"/>
              <a:buChar char="•"/>
            </a:pPr>
            <a:endParaRPr lang="en-US" dirty="0" smtClean="0"/>
          </a:p>
          <a:p>
            <a:pPr lvl="1">
              <a:buFont typeface="Arial" panose="020B0604020202020204" pitchFamily="34" charset="0"/>
              <a:buChar char="•"/>
            </a:pPr>
            <a:r>
              <a:rPr lang="en-US" dirty="0" smtClean="0">
                <a:sym typeface="+mn-ea"/>
              </a:rPr>
              <a:t> Projects are manageable since they’re divided into smaller units called sprints</a:t>
            </a:r>
            <a:endParaRPr lang="en-US" dirty="0" smtClean="0"/>
          </a:p>
          <a:p>
            <a:pPr lvl="1"/>
            <a:endParaRPr lang="en-US" dirty="0" smtClean="0"/>
          </a:p>
          <a:p>
            <a:pPr lvl="1">
              <a:buFont typeface="Arial" panose="020B0604020202020204" pitchFamily="34" charset="0"/>
              <a:buChar char="•"/>
            </a:pPr>
            <a:r>
              <a:rPr lang="en-US" dirty="0" smtClean="0">
                <a:sym typeface="+mn-ea"/>
              </a:rPr>
              <a:t> Teams have greater visibility, thanks to scrum meetings and stand-up sessions</a:t>
            </a:r>
            <a:endParaRPr lang="en-US" dirty="0" smtClean="0"/>
          </a:p>
          <a:p>
            <a:pPr lvl="1"/>
            <a:endParaRPr lang="en-US" dirty="0" smtClean="0"/>
          </a:p>
          <a:p>
            <a:pPr lvl="1">
              <a:buFont typeface="Arial" panose="020B0604020202020204" pitchFamily="34" charset="0"/>
              <a:buChar char="•"/>
            </a:pPr>
            <a:r>
              <a:rPr lang="en-US" dirty="0" smtClean="0">
                <a:sym typeface="+mn-ea"/>
              </a:rPr>
              <a:t> There’s constant feedback from customers and clients </a:t>
            </a:r>
            <a:endParaRPr lang="en-US" dirty="0" smtClean="0"/>
          </a:p>
          <a:p>
            <a:pPr lvl="1">
              <a:buFont typeface="Arial" panose="020B0604020202020204" pitchFamily="34" charset="0"/>
              <a:buChar char="•"/>
            </a:pPr>
            <a:endParaRPr lang="en-US" dirty="0" smtClean="0"/>
          </a:p>
          <a:p>
            <a:pPr lvl="1">
              <a:buFont typeface="Arial" panose="020B0604020202020204" pitchFamily="34" charset="0"/>
              <a:buChar char="•"/>
            </a:pPr>
            <a:r>
              <a:rPr lang="en-US" dirty="0" smtClean="0">
                <a:sym typeface="+mn-ea"/>
              </a:rPr>
              <a:t> Individual efforts of the team members can be focused on</a:t>
            </a:r>
            <a:endParaRPr lang="en-US" altLang="en-US" dirty="0" smtClean="0">
              <a:sym typeface="+mn-ea"/>
            </a:endParaRPr>
          </a:p>
        </p:txBody>
      </p:sp>
      <p:sp>
        <p:nvSpPr>
          <p:cNvPr id="3" name="Text Box 2"/>
          <p:cNvSpPr txBox="1"/>
          <p:nvPr/>
        </p:nvSpPr>
        <p:spPr>
          <a:xfrm>
            <a:off x="533400" y="609600"/>
            <a:ext cx="3048000" cy="605155"/>
          </a:xfrm>
          <a:prstGeom prst="rect">
            <a:avLst/>
          </a:prstGeom>
          <a:noFill/>
        </p:spPr>
        <p:txBody>
          <a:bodyPr wrap="square" rtlCol="0">
            <a:spAutoFit/>
          </a:bodyPr>
          <a:p>
            <a:r>
              <a:rPr lang="en-US" b="1" dirty="0" smtClean="0">
                <a:sym typeface="+mn-ea"/>
              </a:rPr>
              <a:t>What Is Scrum?</a:t>
            </a:r>
            <a:endParaRPr lang="en-US" b="1" dirty="0" smtClean="0"/>
          </a:p>
          <a:p>
            <a:endParaRPr lang="en-GB"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7200" y="1219200"/>
            <a:ext cx="7753350" cy="605155"/>
          </a:xfrm>
          <a:prstGeom prst="rect">
            <a:avLst/>
          </a:prstGeom>
          <a:noFill/>
        </p:spPr>
        <p:txBody>
          <a:bodyPr wrap="square" rtlCol="0" anchor="t">
            <a:spAutoFit/>
          </a:bodyPr>
          <a:p>
            <a:pPr fontAlgn="base"/>
            <a:r>
              <a:rPr lang="en-US" dirty="0" smtClean="0">
                <a:sym typeface="+mn-ea"/>
              </a:rPr>
              <a:t>A sprint is a short, time-boxed period when a scrum team works to complete a set amount of work</a:t>
            </a:r>
            <a:endParaRPr lang="en-US" altLang="en-US" dirty="0" smtClean="0">
              <a:sym typeface="+mn-ea"/>
            </a:endParaRPr>
          </a:p>
        </p:txBody>
      </p:sp>
      <p:sp>
        <p:nvSpPr>
          <p:cNvPr id="3" name="Text Box 2"/>
          <p:cNvSpPr txBox="1"/>
          <p:nvPr/>
        </p:nvSpPr>
        <p:spPr>
          <a:xfrm>
            <a:off x="596265" y="787400"/>
            <a:ext cx="3048000" cy="605155"/>
          </a:xfrm>
          <a:prstGeom prst="rect">
            <a:avLst/>
          </a:prstGeom>
          <a:noFill/>
        </p:spPr>
        <p:txBody>
          <a:bodyPr wrap="square" rtlCol="0">
            <a:spAutoFit/>
          </a:bodyPr>
          <a:p>
            <a:r>
              <a:rPr lang="en-US" b="1" dirty="0" smtClean="0">
                <a:sym typeface="+mn-ea"/>
              </a:rPr>
              <a:t>What are sprints?</a:t>
            </a:r>
            <a:endParaRPr lang="en-US" b="1" dirty="0" smtClean="0"/>
          </a:p>
          <a:p>
            <a:endParaRPr lang="en-GB" altLang="en-US"/>
          </a:p>
        </p:txBody>
      </p:sp>
      <p:pic>
        <p:nvPicPr>
          <p:cNvPr id="1026" name="Picture 2" descr="undefined"/>
          <p:cNvPicPr>
            <a:picLocks noChangeAspect="1" noChangeArrowheads="1"/>
          </p:cNvPicPr>
          <p:nvPr/>
        </p:nvPicPr>
        <p:blipFill>
          <a:blip r:embed="rId1"/>
          <a:srcRect/>
          <a:stretch>
            <a:fillRect/>
          </a:stretch>
        </p:blipFill>
        <p:spPr bwMode="auto">
          <a:xfrm>
            <a:off x="609600" y="1981200"/>
            <a:ext cx="8082280" cy="397256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8600" y="1600200"/>
            <a:ext cx="8403590" cy="4013835"/>
          </a:xfrm>
          <a:prstGeom prst="rect">
            <a:avLst/>
          </a:prstGeom>
        </p:spPr>
        <p:txBody>
          <a:bodyPr wrap="square">
            <a:noAutofit/>
          </a:bodyPr>
          <a:p>
            <a:pPr>
              <a:spcAft>
                <a:spcPct val="60000"/>
              </a:spcAft>
            </a:pPr>
            <a:r>
              <a:rPr sz="2300" b="1"/>
              <a:t>Epic</a:t>
            </a:r>
            <a:endParaRPr sz="2300" b="1"/>
          </a:p>
          <a:p>
            <a:r>
              <a:rPr sz="1600" b="1"/>
              <a:t>An Epic is a large feature or business requirement that cannot be completed in a single sprint. It is divided into multiple user stories.</a:t>
            </a:r>
            <a:endParaRPr sz="1600" b="1"/>
          </a:p>
          <a:p>
            <a:r>
              <a:rPr sz="1600" b="1"/>
              <a:t>Example:</a:t>
            </a:r>
            <a:endParaRPr sz="1600" b="1"/>
          </a:p>
          <a:p>
            <a:r>
              <a:rPr sz="1600" b="1"/>
              <a:t>Epic: Online Shopping System</a:t>
            </a:r>
            <a:endParaRPr sz="1600" b="1"/>
          </a:p>
          <a:p>
            <a:pPr>
              <a:spcAft>
                <a:spcPct val="60000"/>
              </a:spcAft>
            </a:pPr>
            <a:endParaRPr sz="1600"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3400" y="1371600"/>
            <a:ext cx="8089900" cy="3484880"/>
          </a:xfrm>
          <a:prstGeom prst="rect">
            <a:avLst/>
          </a:prstGeom>
          <a:noFill/>
        </p:spPr>
        <p:txBody>
          <a:bodyPr wrap="square" rtlCol="0" anchor="t">
            <a:spAutoFit/>
          </a:bodyPr>
          <a:p>
            <a:pPr>
              <a:spcAft>
                <a:spcPct val="60000"/>
              </a:spcAft>
            </a:pPr>
            <a:r>
              <a:rPr sz="2300" b="1">
                <a:sym typeface="+mn-ea"/>
              </a:rPr>
              <a:t>User Story</a:t>
            </a:r>
            <a:endParaRPr sz="2300" b="1"/>
          </a:p>
          <a:p>
            <a:r>
              <a:rPr sz="1800">
                <a:sym typeface="+mn-ea"/>
              </a:rPr>
              <a:t>A User Story is a small functional requirement that describes what a user </a:t>
            </a:r>
            <a:endParaRPr sz="1800">
              <a:sym typeface="+mn-ea"/>
            </a:endParaRPr>
          </a:p>
          <a:p>
            <a:r>
              <a:rPr sz="1800">
                <a:sym typeface="+mn-ea"/>
              </a:rPr>
              <a:t>wants to achieve and why. It is small enough to be completed within a sprint.</a:t>
            </a:r>
            <a:endParaRPr sz="1800"/>
          </a:p>
          <a:p>
            <a:endParaRPr sz="1800">
              <a:sym typeface="+mn-ea"/>
            </a:endParaRPr>
          </a:p>
          <a:p>
            <a:r>
              <a:rPr sz="1800">
                <a:sym typeface="+mn-ea"/>
              </a:rPr>
              <a:t>Format:</a:t>
            </a:r>
            <a:endParaRPr sz="1800"/>
          </a:p>
          <a:p>
            <a:r>
              <a:rPr sz="1800">
                <a:sym typeface="+mn-ea"/>
              </a:rPr>
              <a:t>As a &lt;user&gt;, I want &lt;feature&gt; so that &lt;benefit&gt;.</a:t>
            </a:r>
            <a:endParaRPr sz="1800"/>
          </a:p>
          <a:p>
            <a:endParaRPr sz="1800">
              <a:sym typeface="+mn-ea"/>
            </a:endParaRPr>
          </a:p>
          <a:p>
            <a:endParaRPr sz="1800">
              <a:sym typeface="+mn-ea"/>
            </a:endParaRPr>
          </a:p>
          <a:p>
            <a:r>
              <a:rPr sz="1800">
                <a:sym typeface="+mn-ea"/>
              </a:rPr>
              <a:t>Example:</a:t>
            </a:r>
            <a:endParaRPr sz="1800"/>
          </a:p>
          <a:p>
            <a:r>
              <a:rPr sz="1800">
                <a:sym typeface="+mn-ea"/>
              </a:rPr>
              <a:t>As a customer, I want to add products to my cart so that I can purchase multiple items together.</a:t>
            </a:r>
            <a:endParaRPr sz="1800"/>
          </a:p>
          <a:p>
            <a:pPr>
              <a:spcAft>
                <a:spcPct val="60000"/>
              </a:spcAft>
            </a:pPr>
            <a:endParaRPr lang="en-GB" altLang="en-US" sz="180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3400" y="1600200"/>
            <a:ext cx="8158480" cy="3639820"/>
          </a:xfrm>
          <a:prstGeom prst="rect">
            <a:avLst/>
          </a:prstGeom>
          <a:noFill/>
        </p:spPr>
        <p:txBody>
          <a:bodyPr wrap="square" rtlCol="0" anchor="t">
            <a:spAutoFit/>
          </a:bodyPr>
          <a:p>
            <a:pPr>
              <a:spcAft>
                <a:spcPct val="60000"/>
              </a:spcAft>
            </a:pPr>
            <a:r>
              <a:rPr sz="2800" b="1">
                <a:sym typeface="+mn-ea"/>
              </a:rPr>
              <a:t>Task</a:t>
            </a:r>
            <a:endParaRPr sz="2800" b="1"/>
          </a:p>
          <a:p>
            <a:r>
              <a:rPr sz="2000">
                <a:sym typeface="+mn-ea"/>
              </a:rPr>
              <a:t>A Task is a specific technical activity required to complete a user story. Tasks are assigned to team members.</a:t>
            </a:r>
            <a:endParaRPr sz="2000"/>
          </a:p>
          <a:p>
            <a:endParaRPr sz="2000">
              <a:sym typeface="+mn-ea"/>
            </a:endParaRPr>
          </a:p>
          <a:p>
            <a:endParaRPr sz="2000">
              <a:sym typeface="+mn-ea"/>
            </a:endParaRPr>
          </a:p>
          <a:p>
            <a:r>
              <a:rPr sz="2000">
                <a:sym typeface="+mn-ea"/>
              </a:rPr>
              <a:t>Example (for the above User Story):</a:t>
            </a:r>
            <a:endParaRPr sz="2000"/>
          </a:p>
          <a:p>
            <a:pPr lvl="1">
              <a:buFont typeface="Arial" panose="020B0604020202020204"/>
              <a:buChar char="•"/>
            </a:pPr>
            <a:r>
              <a:rPr sz="2000">
                <a:sym typeface="+mn-ea"/>
              </a:rPr>
              <a:t> Design the shopping cart page. </a:t>
            </a:r>
            <a:endParaRPr sz="2000"/>
          </a:p>
          <a:p>
            <a:pPr lvl="1">
              <a:buFont typeface="Arial" panose="020B0604020202020204"/>
              <a:buChar char="•"/>
            </a:pPr>
            <a:r>
              <a:rPr sz="2000">
                <a:sym typeface="+mn-ea"/>
              </a:rPr>
              <a:t> Create the Cart database table. </a:t>
            </a:r>
            <a:endParaRPr sz="2000"/>
          </a:p>
          <a:p>
            <a:pPr lvl="1">
              <a:buFont typeface="Arial" panose="020B0604020202020204"/>
              <a:buChar char="•"/>
            </a:pPr>
            <a:r>
              <a:rPr sz="2000">
                <a:sym typeface="+mn-ea"/>
              </a:rPr>
              <a:t> Develop the Add to Cart API. </a:t>
            </a:r>
            <a:endParaRPr sz="2000"/>
          </a:p>
          <a:p>
            <a:pPr lvl="1">
              <a:buFont typeface="Arial" panose="020B0604020202020204"/>
              <a:buChar char="•"/>
            </a:pPr>
            <a:r>
              <a:rPr sz="2000">
                <a:sym typeface="+mn-ea"/>
              </a:rPr>
              <a:t> Write unit test cases. </a:t>
            </a:r>
            <a:endParaRPr sz="2000"/>
          </a:p>
          <a:p>
            <a:pPr lvl="1">
              <a:buFont typeface="Arial" panose="020B0604020202020204"/>
              <a:buChar char="•"/>
            </a:pPr>
            <a:r>
              <a:rPr sz="2000">
                <a:sym typeface="+mn-ea"/>
              </a:rPr>
              <a:t> Perform testing.</a:t>
            </a:r>
            <a:endParaRPr lang="en-GB" altLang="en-US" sz="200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2"/>
          <p:cNvPicPr>
            <a:picLocks noChangeAspect="1" noChangeArrowheads="1"/>
          </p:cNvPicPr>
          <p:nvPr/>
        </p:nvPicPr>
        <p:blipFill>
          <a:blip r:embed="rId1"/>
          <a:srcRect/>
          <a:stretch>
            <a:fillRect/>
          </a:stretch>
        </p:blipFill>
        <p:spPr bwMode="auto">
          <a:xfrm>
            <a:off x="0" y="78105"/>
            <a:ext cx="8885555" cy="627189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2" name="Picture 2"/>
          <p:cNvPicPr>
            <a:picLocks noChangeAspect="1" noChangeArrowheads="1"/>
          </p:cNvPicPr>
          <p:nvPr/>
        </p:nvPicPr>
        <p:blipFill>
          <a:blip r:embed="rId1"/>
          <a:srcRect/>
          <a:stretch>
            <a:fillRect/>
          </a:stretch>
        </p:blipFill>
        <p:spPr bwMode="auto">
          <a:xfrm>
            <a:off x="0" y="457200"/>
            <a:ext cx="8972550" cy="60960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2"/>
          <p:cNvPicPr>
            <a:picLocks noChangeAspect="1" noChangeArrowheads="1"/>
          </p:cNvPicPr>
          <p:nvPr/>
        </p:nvPicPr>
        <p:blipFill>
          <a:blip r:embed="rId1"/>
          <a:srcRect/>
          <a:stretch>
            <a:fillRect/>
          </a:stretch>
        </p:blipFill>
        <p:spPr bwMode="auto">
          <a:xfrm>
            <a:off x="228600" y="228600"/>
            <a:ext cx="8329613" cy="62484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0" name="Picture 2"/>
          <p:cNvPicPr>
            <a:picLocks noChangeAspect="1" noChangeArrowheads="1"/>
          </p:cNvPicPr>
          <p:nvPr/>
        </p:nvPicPr>
        <p:blipFill>
          <a:blip r:embed="rId1"/>
          <a:srcRect/>
          <a:stretch>
            <a:fillRect/>
          </a:stretch>
        </p:blipFill>
        <p:spPr bwMode="auto">
          <a:xfrm>
            <a:off x="121285" y="228600"/>
            <a:ext cx="8815070" cy="572897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8" name="Picture 2"/>
          <p:cNvPicPr>
            <a:picLocks noChangeAspect="1" noChangeArrowheads="1"/>
          </p:cNvPicPr>
          <p:nvPr/>
        </p:nvPicPr>
        <p:blipFill>
          <a:blip r:embed="rId1"/>
          <a:srcRect/>
          <a:stretch>
            <a:fillRect/>
          </a:stretch>
        </p:blipFill>
        <p:spPr bwMode="auto">
          <a:xfrm>
            <a:off x="0" y="228600"/>
            <a:ext cx="9144000" cy="616839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2"/>
          <p:cNvPicPr>
            <a:picLocks noChangeAspect="1" noChangeArrowheads="1"/>
          </p:cNvPicPr>
          <p:nvPr/>
        </p:nvPicPr>
        <p:blipFill>
          <a:blip r:embed="rId1"/>
          <a:srcRect/>
          <a:stretch>
            <a:fillRect/>
          </a:stretch>
        </p:blipFill>
        <p:spPr bwMode="auto">
          <a:xfrm>
            <a:off x="228600" y="533400"/>
            <a:ext cx="8763000" cy="578167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Microsoft YaHei"/>
        <a:cs typeface=""/>
      </a:majorFont>
      <a:minorFont>
        <a:latin typeface="Gill Sans MT"/>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defRPr kumimoji="0" 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defRPr kumimoji="0" 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Microsoft YaHei"/>
        <a:cs typeface=""/>
      </a:majorFont>
      <a:minorFont>
        <a:latin typeface="Gill Sans MT"/>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defRPr kumimoji="0" 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defRPr kumimoji="0" 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Microsoft YaHei"/>
        <a:cs typeface=""/>
      </a:majorFont>
      <a:minorFont>
        <a:latin typeface="Gill Sans MT"/>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defRPr kumimoji="0" 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defRPr kumimoji="0" 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Module 4 C Instructions</Template>
  <TotalTime>0</TotalTime>
  <Words>7933</Words>
  <Application>WPS Presentation</Application>
  <PresentationFormat>On-screen Show (4:3)</PresentationFormat>
  <Paragraphs>325</Paragraphs>
  <Slides>42</Slides>
  <Notes>0</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42</vt:i4>
      </vt:variant>
    </vt:vector>
  </HeadingPairs>
  <TitlesOfParts>
    <vt:vector size="58" baseType="lpstr">
      <vt:lpstr>Arial</vt:lpstr>
      <vt:lpstr>SimSun</vt:lpstr>
      <vt:lpstr>Wingdings</vt:lpstr>
      <vt:lpstr>Times New Roman</vt:lpstr>
      <vt:lpstr>Microsoft YaHei</vt:lpstr>
      <vt:lpstr>Calibri</vt:lpstr>
      <vt:lpstr>Arial Unicode MS</vt:lpstr>
      <vt:lpstr>Open Sans</vt:lpstr>
      <vt:lpstr>Segoe Print</vt:lpstr>
      <vt:lpstr>Candara</vt:lpstr>
      <vt:lpstr>Arial Unicode MS</vt:lpstr>
      <vt:lpstr>Gill Sans MT</vt:lpstr>
      <vt:lpstr>Arial</vt:lpstr>
      <vt:lpstr>Office Theme</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Adarshpc</dc:creator>
  <cp:lastModifiedBy>WPS_1721743183</cp:lastModifiedBy>
  <cp:revision>83</cp:revision>
  <cp:lastPrinted>2113-01-01T00:00:00Z</cp:lastPrinted>
  <dcterms:created xsi:type="dcterms:W3CDTF">2015-11-16T07:32:00Z</dcterms:created>
  <dcterms:modified xsi:type="dcterms:W3CDTF">2026-08-07T06:22:20Z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6BF16DD5254B468E97D2D3C26D00FE27_13</vt:lpwstr>
  </property>
  <property fmtid="{D5CDD505-2E9C-101B-9397-08002B2CF9AE}" pid="3" name="KSOProductBuildVer">
    <vt:lpwstr>2057-12.2.0.23206</vt:lpwstr>
  </property>
</Properties>
</file>